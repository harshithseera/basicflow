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9878"/>
            <a:ext cx="122364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30645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3377" y="794189"/>
            <a:ext cx="4227830" cy="1958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29603" y="3367039"/>
            <a:ext cx="876935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323143" y="3367039"/>
            <a:ext cx="241300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" Target="slide2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slide" Target="slide2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" Target="slide2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" Target="slide2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" Target="slide2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slide" Target="slide2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slide" Target="slide2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slide" Target="slide2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2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slide" Target="slide2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slide" Target="slide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slide" Target="slide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jpg"/><Relationship Id="rId3" Type="http://schemas.openxmlformats.org/officeDocument/2006/relationships/slide" Target="slide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youtu.be/1FxWuKNQEiM" TargetMode="External"/><Relationship Id="rId3" Type="http://schemas.openxmlformats.org/officeDocument/2006/relationships/slide" Target="slide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youtu.be/n95WHZevxD8" TargetMode="External"/><Relationship Id="rId3" Type="http://schemas.openxmlformats.org/officeDocument/2006/relationships/slide" Target="slide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youtu.be/QkzGF9ZRE0I" TargetMode="External"/><Relationship Id="rId3" Type="http://schemas.openxmlformats.org/officeDocument/2006/relationships/slide" Target="slide1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youtube.com/playlist?list=PL2gpCaN0OukK0CCQrF3CXxn65Ktbnit_8" TargetMode="External"/><Relationship Id="rId3" Type="http://schemas.openxmlformats.org/officeDocument/2006/relationships/slide" Target="slide1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slide" Target="slide1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729" y="782510"/>
            <a:ext cx="4507865" cy="721995"/>
            <a:chOff x="75729" y="782510"/>
            <a:chExt cx="4507865" cy="721995"/>
          </a:xfrm>
        </p:grpSpPr>
        <p:sp>
          <p:nvSpPr>
            <p:cNvPr id="3" name="object 3" descr=""/>
            <p:cNvSpPr/>
            <p:nvPr/>
          </p:nvSpPr>
          <p:spPr>
            <a:xfrm>
              <a:off x="75729" y="782510"/>
              <a:ext cx="4457065" cy="82550"/>
            </a:xfrm>
            <a:custGeom>
              <a:avLst/>
              <a:gdLst/>
              <a:ahLst/>
              <a:cxnLst/>
              <a:rect l="l" t="t" r="r" b="b"/>
              <a:pathLst>
                <a:path w="4457065" h="82550">
                  <a:moveTo>
                    <a:pt x="440580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56606" y="82384"/>
                  </a:lnTo>
                  <a:lnTo>
                    <a:pt x="4456606" y="50800"/>
                  </a:lnTo>
                  <a:lnTo>
                    <a:pt x="4452598" y="31075"/>
                  </a:lnTo>
                  <a:lnTo>
                    <a:pt x="4441684" y="14922"/>
                  </a:lnTo>
                  <a:lnTo>
                    <a:pt x="4425531" y="4008"/>
                  </a:lnTo>
                  <a:lnTo>
                    <a:pt x="440580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6530" y="845761"/>
              <a:ext cx="4457065" cy="658495"/>
            </a:xfrm>
            <a:custGeom>
              <a:avLst/>
              <a:gdLst/>
              <a:ahLst/>
              <a:cxnLst/>
              <a:rect l="l" t="t" r="r" b="b"/>
              <a:pathLst>
                <a:path w="4457065" h="658494">
                  <a:moveTo>
                    <a:pt x="4456607" y="0"/>
                  </a:moveTo>
                  <a:lnTo>
                    <a:pt x="0" y="0"/>
                  </a:lnTo>
                  <a:lnTo>
                    <a:pt x="0" y="658415"/>
                  </a:lnTo>
                  <a:lnTo>
                    <a:pt x="4456607" y="658415"/>
                  </a:lnTo>
                  <a:lnTo>
                    <a:pt x="44566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5729" y="826924"/>
              <a:ext cx="4457065" cy="626745"/>
            </a:xfrm>
            <a:custGeom>
              <a:avLst/>
              <a:gdLst/>
              <a:ahLst/>
              <a:cxnLst/>
              <a:rect l="l" t="t" r="r" b="b"/>
              <a:pathLst>
                <a:path w="4457065" h="626744">
                  <a:moveTo>
                    <a:pt x="4456606" y="0"/>
                  </a:moveTo>
                  <a:lnTo>
                    <a:pt x="0" y="0"/>
                  </a:lnTo>
                  <a:lnTo>
                    <a:pt x="0" y="575651"/>
                  </a:lnTo>
                  <a:lnTo>
                    <a:pt x="4008" y="595375"/>
                  </a:lnTo>
                  <a:lnTo>
                    <a:pt x="14922" y="611528"/>
                  </a:lnTo>
                  <a:lnTo>
                    <a:pt x="31075" y="622443"/>
                  </a:lnTo>
                  <a:lnTo>
                    <a:pt x="50800" y="626451"/>
                  </a:lnTo>
                  <a:lnTo>
                    <a:pt x="4405806" y="626451"/>
                  </a:lnTo>
                  <a:lnTo>
                    <a:pt x="4425531" y="622443"/>
                  </a:lnTo>
                  <a:lnTo>
                    <a:pt x="4441684" y="611528"/>
                  </a:lnTo>
                  <a:lnTo>
                    <a:pt x="4452598" y="595375"/>
                  </a:lnTo>
                  <a:lnTo>
                    <a:pt x="4456606" y="575651"/>
                  </a:lnTo>
                  <a:lnTo>
                    <a:pt x="445660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6530" y="845761"/>
            <a:ext cx="4457065" cy="658495"/>
          </a:xfrm>
          <a:prstGeom prst="rect"/>
        </p:spPr>
        <p:txBody>
          <a:bodyPr wrap="square" lIns="0" tIns="41910" rIns="0" bIns="0" rtlCol="0" vert="horz">
            <a:spAutoFit/>
          </a:bodyPr>
          <a:lstStyle/>
          <a:p>
            <a:pPr marL="1718945" marR="458470" indent="-1353820">
              <a:lnSpc>
                <a:spcPct val="106700"/>
              </a:lnSpc>
              <a:spcBef>
                <a:spcPts val="330"/>
              </a:spcBef>
            </a:pPr>
            <a:r>
              <a:rPr dirty="0" spc="-20"/>
              <a:t>BasicFlow:</a:t>
            </a:r>
            <a:r>
              <a:rPr dirty="0" spc="110"/>
              <a:t> </a:t>
            </a:r>
            <a:r>
              <a:rPr dirty="0" spc="-35"/>
              <a:t>Lightweight</a:t>
            </a:r>
            <a:r>
              <a:rPr dirty="0" spc="-20"/>
              <a:t> </a:t>
            </a:r>
            <a:r>
              <a:rPr dirty="0" spc="-45"/>
              <a:t>SteadyFlow-</a:t>
            </a:r>
            <a:r>
              <a:rPr dirty="0" spc="-30"/>
              <a:t>Based</a:t>
            </a:r>
            <a:r>
              <a:rPr dirty="0" spc="-25"/>
              <a:t> </a:t>
            </a:r>
            <a:r>
              <a:rPr dirty="0" spc="-10"/>
              <a:t>Video Stabilization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670712" y="1662143"/>
            <a:ext cx="3268979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200"/>
              </a:lnSpc>
              <a:spcBef>
                <a:spcPts val="95"/>
              </a:spcBef>
              <a:tabLst>
                <a:tab pos="1694180" algn="l"/>
              </a:tabLst>
            </a:pPr>
            <a:r>
              <a:rPr dirty="0" sz="1000" spc="-10">
                <a:latin typeface="Tahoma"/>
                <a:cs typeface="Tahoma"/>
              </a:rPr>
              <a:t>Arnav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Sharma </a:t>
            </a:r>
            <a:r>
              <a:rPr dirty="0" sz="1000" spc="-10">
                <a:latin typeface="Tahoma"/>
                <a:cs typeface="Tahoma"/>
              </a:rPr>
              <a:t>(2023111033)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25">
                <a:latin typeface="Tahoma"/>
                <a:cs typeface="Tahoma"/>
              </a:rPr>
              <a:t>Harshith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Seera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(2023101064)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ts val="1080"/>
              </a:lnSpc>
            </a:pPr>
            <a:r>
              <a:rPr dirty="0" sz="900" spc="-10">
                <a:latin typeface="Tahoma"/>
                <a:cs typeface="Tahoma"/>
              </a:rPr>
              <a:t>CS7.404</a:t>
            </a:r>
            <a:r>
              <a:rPr dirty="0" sz="900" spc="1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Digital</a:t>
            </a:r>
            <a:r>
              <a:rPr dirty="0" sz="900" spc="15">
                <a:latin typeface="Tahoma"/>
                <a:cs typeface="Tahoma"/>
              </a:rPr>
              <a:t> </a:t>
            </a:r>
            <a:r>
              <a:rPr dirty="0" sz="900" spc="-40">
                <a:latin typeface="Tahoma"/>
                <a:cs typeface="Tahoma"/>
              </a:rPr>
              <a:t>Image</a:t>
            </a:r>
            <a:r>
              <a:rPr dirty="0" sz="900" spc="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Processing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9" name="object 9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2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Introduction</a:t>
            </a:r>
            <a:r>
              <a:rPr dirty="0" spc="-15"/>
              <a:t> </a:t>
            </a:r>
            <a:r>
              <a:rPr dirty="0" spc="120"/>
              <a:t>&amp;</a:t>
            </a:r>
            <a:r>
              <a:rPr dirty="0" spc="-15"/>
              <a:t> </a:t>
            </a:r>
            <a:r>
              <a:rPr dirty="0" spc="-20"/>
              <a:t>Problem</a:t>
            </a:r>
            <a:r>
              <a:rPr dirty="0" spc="-15"/>
              <a:t> </a:t>
            </a:r>
            <a:r>
              <a:rPr dirty="0" spc="-25"/>
              <a:t>Statement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1049959"/>
            <a:ext cx="59601" cy="59601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0751" rIns="0" bIns="0" rtlCol="0" vert="horz">
            <a:spAutoFit/>
          </a:bodyPr>
          <a:lstStyle/>
          <a:p>
            <a:pPr marL="76200" marR="508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Videos</a:t>
            </a:r>
            <a:r>
              <a:rPr dirty="0" spc="-35"/>
              <a:t> </a:t>
            </a:r>
            <a:r>
              <a:rPr dirty="0" spc="-20"/>
              <a:t>often</a:t>
            </a:r>
            <a:r>
              <a:rPr dirty="0" spc="-30"/>
              <a:t> </a:t>
            </a:r>
            <a:r>
              <a:rPr dirty="0" spc="-40"/>
              <a:t>suffer</a:t>
            </a:r>
            <a:r>
              <a:rPr dirty="0" spc="-30"/>
              <a:t> </a:t>
            </a:r>
            <a:r>
              <a:rPr dirty="0" spc="-20"/>
              <a:t>from</a:t>
            </a:r>
            <a:r>
              <a:rPr dirty="0" spc="-30"/>
              <a:t> </a:t>
            </a:r>
            <a:r>
              <a:rPr dirty="0" spc="-10"/>
              <a:t>jitter,</a:t>
            </a:r>
            <a:r>
              <a:rPr dirty="0" spc="-25"/>
              <a:t> </a:t>
            </a:r>
            <a:r>
              <a:rPr dirty="0" spc="-40"/>
              <a:t>wobble,</a:t>
            </a:r>
            <a:r>
              <a:rPr dirty="0" spc="-30"/>
              <a:t> parallax </a:t>
            </a:r>
            <a:r>
              <a:rPr dirty="0" spc="-35"/>
              <a:t>effects,</a:t>
            </a:r>
            <a:r>
              <a:rPr dirty="0" spc="-30"/>
              <a:t> </a:t>
            </a:r>
            <a:r>
              <a:rPr dirty="0" spc="-35"/>
              <a:t>and</a:t>
            </a:r>
            <a:r>
              <a:rPr dirty="0" spc="-30"/>
              <a:t> </a:t>
            </a:r>
            <a:r>
              <a:rPr dirty="0" spc="-25"/>
              <a:t>distortions</a:t>
            </a:r>
            <a:r>
              <a:rPr dirty="0" spc="-30"/>
              <a:t> </a:t>
            </a:r>
            <a:r>
              <a:rPr dirty="0" spc="-50"/>
              <a:t>due</a:t>
            </a:r>
            <a:r>
              <a:rPr dirty="0" spc="-30"/>
              <a:t> </a:t>
            </a:r>
            <a:r>
              <a:rPr dirty="0" spc="-25"/>
              <a:t>to </a:t>
            </a:r>
            <a:r>
              <a:rPr dirty="0" spc="-40"/>
              <a:t>handheld</a:t>
            </a:r>
            <a:r>
              <a:rPr dirty="0" spc="-30"/>
              <a:t> </a:t>
            </a:r>
            <a:r>
              <a:rPr dirty="0" spc="-20"/>
              <a:t>motion </a:t>
            </a:r>
            <a:r>
              <a:rPr dirty="0" spc="-10"/>
              <a:t>or</a:t>
            </a:r>
            <a:r>
              <a:rPr dirty="0" spc="-20"/>
              <a:t> </a:t>
            </a:r>
            <a:r>
              <a:rPr dirty="0" spc="-60"/>
              <a:t>scene</a:t>
            </a:r>
            <a:r>
              <a:rPr dirty="0" spc="-20"/>
              <a:t> </a:t>
            </a:r>
            <a:r>
              <a:rPr dirty="0" spc="-30"/>
              <a:t>depth</a:t>
            </a:r>
            <a:r>
              <a:rPr dirty="0" spc="-20"/>
              <a:t> </a:t>
            </a:r>
            <a:r>
              <a:rPr dirty="0" spc="-10"/>
              <a:t>changes.</a:t>
            </a:r>
          </a:p>
          <a:p>
            <a:pPr marL="76200" marR="64135">
              <a:lnSpc>
                <a:spcPct val="100000"/>
              </a:lnSpc>
              <a:spcBef>
                <a:spcPts val="290"/>
              </a:spcBef>
            </a:pPr>
            <a:r>
              <a:rPr dirty="0" spc="-10"/>
              <a:t>Video</a:t>
            </a:r>
            <a:r>
              <a:rPr dirty="0" spc="-25"/>
              <a:t> </a:t>
            </a:r>
            <a:r>
              <a:rPr dirty="0" spc="-20"/>
              <a:t>stabilization</a:t>
            </a:r>
            <a:r>
              <a:rPr dirty="0" spc="-15"/>
              <a:t> </a:t>
            </a:r>
            <a:r>
              <a:rPr dirty="0" spc="-25"/>
              <a:t>aims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 spc="-25"/>
              <a:t>correct</a:t>
            </a:r>
            <a:r>
              <a:rPr dirty="0" spc="-20"/>
              <a:t> </a:t>
            </a:r>
            <a:r>
              <a:rPr dirty="0" spc="-50"/>
              <a:t>these</a:t>
            </a:r>
            <a:r>
              <a:rPr dirty="0" spc="-25"/>
              <a:t> </a:t>
            </a:r>
            <a:r>
              <a:rPr dirty="0" spc="-50"/>
              <a:t>issues</a:t>
            </a:r>
            <a:r>
              <a:rPr dirty="0" spc="-15"/>
              <a:t> </a:t>
            </a:r>
            <a:r>
              <a:rPr dirty="0" spc="-30"/>
              <a:t>by</a:t>
            </a:r>
            <a:r>
              <a:rPr dirty="0" spc="-20"/>
              <a:t> </a:t>
            </a:r>
            <a:r>
              <a:rPr dirty="0" spc="-30"/>
              <a:t>estimating</a:t>
            </a:r>
            <a:r>
              <a:rPr dirty="0" spc="-20"/>
              <a:t> </a:t>
            </a:r>
            <a:r>
              <a:rPr dirty="0" spc="-40"/>
              <a:t>camera</a:t>
            </a:r>
            <a:r>
              <a:rPr dirty="0" spc="-20"/>
              <a:t> </a:t>
            </a:r>
            <a:r>
              <a:rPr dirty="0" spc="-10"/>
              <a:t>motion </a:t>
            </a:r>
            <a:r>
              <a:rPr dirty="0" spc="-25"/>
              <a:t>and </a:t>
            </a:r>
            <a:r>
              <a:rPr dirty="0" spc="-30"/>
              <a:t>producing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 spc="-35"/>
              <a:t>smoother</a:t>
            </a:r>
            <a:r>
              <a:rPr dirty="0" spc="-20"/>
              <a:t> </a:t>
            </a:r>
            <a:r>
              <a:rPr dirty="0" spc="-25"/>
              <a:t>visual </a:t>
            </a:r>
            <a:r>
              <a:rPr dirty="0" spc="-30"/>
              <a:t>trajectory</a:t>
            </a:r>
            <a:r>
              <a:rPr dirty="0" spc="-25"/>
              <a:t> </a:t>
            </a:r>
            <a:r>
              <a:rPr dirty="0" spc="-55"/>
              <a:t>between</a:t>
            </a:r>
            <a:r>
              <a:rPr dirty="0" spc="-20"/>
              <a:t> </a:t>
            </a:r>
            <a:r>
              <a:rPr dirty="0" spc="-10"/>
              <a:t>frames.</a:t>
            </a:r>
          </a:p>
          <a:p>
            <a:pPr marL="76200" marR="7620">
              <a:lnSpc>
                <a:spcPct val="100000"/>
              </a:lnSpc>
              <a:spcBef>
                <a:spcPts val="290"/>
              </a:spcBef>
            </a:pPr>
            <a:r>
              <a:rPr dirty="0" spc="-30"/>
              <a:t>SteadyFlow</a:t>
            </a:r>
            <a:r>
              <a:rPr dirty="0" spc="-10"/>
              <a:t> </a:t>
            </a:r>
            <a:r>
              <a:rPr dirty="0" spc="-50"/>
              <a:t>achieves</a:t>
            </a:r>
            <a:r>
              <a:rPr dirty="0" spc="-10"/>
              <a:t> </a:t>
            </a:r>
            <a:r>
              <a:rPr dirty="0" spc="-35"/>
              <a:t>high-</a:t>
            </a:r>
            <a:r>
              <a:rPr dirty="0" spc="-25"/>
              <a:t>quality</a:t>
            </a:r>
            <a:r>
              <a:rPr dirty="0" spc="-5"/>
              <a:t> </a:t>
            </a:r>
            <a:r>
              <a:rPr dirty="0" spc="-20"/>
              <a:t>stabilization</a:t>
            </a:r>
            <a:r>
              <a:rPr dirty="0" spc="-10"/>
              <a:t> </a:t>
            </a:r>
            <a:r>
              <a:rPr dirty="0" spc="-30"/>
              <a:t>by</a:t>
            </a:r>
            <a:r>
              <a:rPr dirty="0" spc="-10"/>
              <a:t> </a:t>
            </a:r>
            <a:r>
              <a:rPr dirty="0" spc="-30"/>
              <a:t>creating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 spc="-20"/>
              <a:t>spatially</a:t>
            </a:r>
            <a:r>
              <a:rPr dirty="0" spc="-10"/>
              <a:t> </a:t>
            </a:r>
            <a:r>
              <a:rPr dirty="0" spc="-25"/>
              <a:t>coherent </a:t>
            </a:r>
            <a:r>
              <a:rPr dirty="0" spc="-10"/>
              <a:t>optical</a:t>
            </a:r>
            <a:r>
              <a:rPr dirty="0" spc="-30"/>
              <a:t> </a:t>
            </a:r>
            <a:r>
              <a:rPr dirty="0" spc="-20"/>
              <a:t>flow,</a:t>
            </a:r>
            <a:r>
              <a:rPr dirty="0" spc="-30"/>
              <a:t> </a:t>
            </a:r>
            <a:r>
              <a:rPr dirty="0" spc="-25"/>
              <a:t>allowing</a:t>
            </a:r>
            <a:r>
              <a:rPr dirty="0" spc="-35"/>
              <a:t> </a:t>
            </a:r>
            <a:r>
              <a:rPr dirty="0" spc="-30"/>
              <a:t>us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 spc="-25"/>
              <a:t>smooth</a:t>
            </a:r>
            <a:r>
              <a:rPr dirty="0" spc="-30"/>
              <a:t> </a:t>
            </a:r>
            <a:r>
              <a:rPr dirty="0" spc="-20"/>
              <a:t>pixel</a:t>
            </a:r>
            <a:r>
              <a:rPr dirty="0" spc="-30"/>
              <a:t> profiles</a:t>
            </a:r>
            <a:r>
              <a:rPr dirty="0" spc="-35"/>
              <a:t> </a:t>
            </a:r>
            <a:r>
              <a:rPr dirty="0" spc="-25"/>
              <a:t>rather</a:t>
            </a:r>
            <a:r>
              <a:rPr dirty="0" spc="-30"/>
              <a:t> </a:t>
            </a:r>
            <a:r>
              <a:rPr dirty="0" spc="-20"/>
              <a:t>than</a:t>
            </a:r>
            <a:r>
              <a:rPr dirty="0" spc="-30"/>
              <a:t> </a:t>
            </a:r>
            <a:r>
              <a:rPr dirty="0" spc="-10"/>
              <a:t>feature trajectories.</a:t>
            </a:r>
          </a:p>
          <a:p>
            <a:pPr marL="76200" marR="195580">
              <a:lnSpc>
                <a:spcPct val="100000"/>
              </a:lnSpc>
              <a:spcBef>
                <a:spcPts val="285"/>
              </a:spcBef>
            </a:pPr>
            <a:r>
              <a:rPr dirty="0"/>
              <a:t>Our</a:t>
            </a:r>
            <a:r>
              <a:rPr dirty="0" spc="-20"/>
              <a:t> </a:t>
            </a:r>
            <a:r>
              <a:rPr dirty="0" spc="-30"/>
              <a:t>method,</a:t>
            </a:r>
            <a:r>
              <a:rPr dirty="0" spc="-20"/>
              <a:t> </a:t>
            </a:r>
            <a:r>
              <a:rPr dirty="0" spc="-10"/>
              <a:t>BasicFlow,</a:t>
            </a:r>
            <a:r>
              <a:rPr dirty="0" spc="-20"/>
              <a:t> </a:t>
            </a:r>
            <a:r>
              <a:rPr dirty="0" spc="-40"/>
              <a:t>provides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 spc="-30"/>
              <a:t>lightweight</a:t>
            </a:r>
            <a:r>
              <a:rPr dirty="0" spc="-20"/>
              <a:t> </a:t>
            </a:r>
            <a:r>
              <a:rPr dirty="0" spc="-30"/>
              <a:t>alternative</a:t>
            </a:r>
            <a:r>
              <a:rPr dirty="0" spc="-25"/>
              <a:t> </a:t>
            </a:r>
            <a:r>
              <a:rPr dirty="0" spc="-20"/>
              <a:t>by</a:t>
            </a:r>
            <a:r>
              <a:rPr dirty="0" spc="-15"/>
              <a:t> </a:t>
            </a:r>
            <a:r>
              <a:rPr dirty="0" spc="-35"/>
              <a:t>using</a:t>
            </a:r>
            <a:r>
              <a:rPr dirty="0" spc="-20"/>
              <a:t> </a:t>
            </a:r>
            <a:r>
              <a:rPr dirty="0" spc="30"/>
              <a:t>RAFT </a:t>
            </a:r>
            <a:r>
              <a:rPr dirty="0" spc="-20"/>
              <a:t>flow, </a:t>
            </a:r>
            <a:r>
              <a:rPr dirty="0" spc="-30"/>
              <a:t>simple</a:t>
            </a:r>
            <a:r>
              <a:rPr dirty="0" spc="-25"/>
              <a:t> </a:t>
            </a:r>
            <a:r>
              <a:rPr dirty="0" spc="-20"/>
              <a:t>spatial </a:t>
            </a:r>
            <a:r>
              <a:rPr dirty="0" spc="-35"/>
              <a:t>masking,</a:t>
            </a:r>
            <a:r>
              <a:rPr dirty="0" spc="-15"/>
              <a:t> </a:t>
            </a:r>
            <a:r>
              <a:rPr dirty="0" spc="-30"/>
              <a:t>and</a:t>
            </a:r>
            <a:r>
              <a:rPr dirty="0" spc="-20"/>
              <a:t> </a:t>
            </a:r>
            <a:r>
              <a:rPr dirty="0" spc="-25"/>
              <a:t>efficient </a:t>
            </a:r>
            <a:r>
              <a:rPr dirty="0" spc="-30"/>
              <a:t>temporal</a:t>
            </a:r>
            <a:r>
              <a:rPr dirty="0" spc="-15"/>
              <a:t> </a:t>
            </a:r>
            <a:r>
              <a:rPr dirty="0" spc="-10"/>
              <a:t>smoothing.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391577"/>
            <a:ext cx="59601" cy="596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733207"/>
            <a:ext cx="59601" cy="5960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2226653"/>
            <a:ext cx="59601" cy="59601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9" name="object 9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6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Optical</a:t>
            </a:r>
            <a:r>
              <a:rPr dirty="0" spc="-60"/>
              <a:t> </a:t>
            </a:r>
            <a:r>
              <a:rPr dirty="0" spc="-20"/>
              <a:t>Flow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3830" y="892093"/>
            <a:ext cx="4380865" cy="44069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dirty="0" sz="900" spc="-10" b="1">
                <a:latin typeface="Arial"/>
                <a:cs typeface="Arial"/>
              </a:rPr>
              <a:t>Optical</a:t>
            </a:r>
            <a:r>
              <a:rPr dirty="0" sz="900" spc="2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Flow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spc="-25">
                <a:latin typeface="Tahoma"/>
                <a:cs typeface="Tahoma"/>
              </a:rPr>
              <a:t>describes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apparent </a:t>
            </a:r>
            <a:r>
              <a:rPr dirty="0" sz="900">
                <a:latin typeface="Tahoma"/>
                <a:cs typeface="Tahoma"/>
              </a:rPr>
              <a:t>motion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of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pixels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between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two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consecutive </a:t>
            </a:r>
            <a:r>
              <a:rPr dirty="0" sz="900" spc="-10">
                <a:latin typeface="Tahoma"/>
                <a:cs typeface="Tahoma"/>
              </a:rPr>
              <a:t>video frames.</a:t>
            </a:r>
            <a:r>
              <a:rPr dirty="0" sz="900" spc="4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It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provides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2D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motion</a:t>
            </a:r>
            <a:r>
              <a:rPr dirty="0" sz="900" spc="-20">
                <a:latin typeface="Tahoma"/>
                <a:cs typeface="Tahoma"/>
              </a:rPr>
              <a:t> vector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(</a:t>
            </a:r>
            <a:r>
              <a:rPr dirty="0" sz="900" i="1">
                <a:latin typeface="Arial"/>
                <a:cs typeface="Arial"/>
              </a:rPr>
              <a:t>u,</a:t>
            </a:r>
            <a:r>
              <a:rPr dirty="0" sz="900" spc="-100" i="1">
                <a:latin typeface="Arial"/>
                <a:cs typeface="Arial"/>
              </a:rPr>
              <a:t> </a:t>
            </a:r>
            <a:r>
              <a:rPr dirty="0" sz="900" spc="-35" i="1">
                <a:latin typeface="Arial"/>
                <a:cs typeface="Arial"/>
              </a:rPr>
              <a:t>v</a:t>
            </a:r>
            <a:r>
              <a:rPr dirty="0" sz="900" spc="-155" i="1">
                <a:latin typeface="Arial"/>
                <a:cs typeface="Arial"/>
              </a:rPr>
              <a:t> </a:t>
            </a:r>
            <a:r>
              <a:rPr dirty="0" sz="900">
                <a:latin typeface="Tahoma"/>
                <a:cs typeface="Tahoma"/>
              </a:rPr>
              <a:t>)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at</a:t>
            </a:r>
            <a:r>
              <a:rPr dirty="0" sz="900" spc="-20">
                <a:latin typeface="Tahoma"/>
                <a:cs typeface="Tahoma"/>
              </a:rPr>
              <a:t> each </a:t>
            </a:r>
            <a:r>
              <a:rPr dirty="0" sz="900" spc="-10">
                <a:latin typeface="Tahoma"/>
                <a:cs typeface="Tahoma"/>
              </a:rPr>
              <a:t>pixel,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indicating</a:t>
            </a:r>
            <a:r>
              <a:rPr dirty="0" sz="900" spc="-20">
                <a:latin typeface="Tahoma"/>
                <a:cs typeface="Tahoma"/>
              </a:rPr>
              <a:t> how </a:t>
            </a:r>
            <a:r>
              <a:rPr dirty="0" sz="900">
                <a:latin typeface="Tahoma"/>
                <a:cs typeface="Tahoma"/>
              </a:rPr>
              <a:t>that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pixel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has </a:t>
            </a:r>
            <a:r>
              <a:rPr dirty="0" sz="900" spc="-10">
                <a:latin typeface="Tahoma"/>
                <a:cs typeface="Tahoma"/>
              </a:rPr>
              <a:t>moved.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100" y="1599405"/>
            <a:ext cx="1219281" cy="68584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4307" y="1599405"/>
            <a:ext cx="1219281" cy="68584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65526" y="1590886"/>
            <a:ext cx="1219370" cy="694363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55370" y="2297856"/>
            <a:ext cx="75501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Tahoma"/>
                <a:cs typeface="Tahoma"/>
              </a:rPr>
              <a:t>Original</a:t>
            </a:r>
            <a:r>
              <a:rPr dirty="0" sz="900" spc="-10">
                <a:latin typeface="Tahoma"/>
                <a:cs typeface="Tahoma"/>
              </a:rPr>
              <a:t> Frame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822792" y="2297856"/>
            <a:ext cx="96266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Tahoma"/>
                <a:cs typeface="Tahoma"/>
              </a:rPr>
              <a:t>Initial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Optical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Flow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417758" y="2297856"/>
            <a:ext cx="514984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latin typeface="Tahoma"/>
                <a:cs typeface="Tahoma"/>
              </a:rPr>
              <a:t>BasicFlow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1" name="object 11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5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Feature</a:t>
            </a:r>
            <a:r>
              <a:rPr dirty="0" spc="-55"/>
              <a:t> </a:t>
            </a:r>
            <a:r>
              <a:rPr dirty="0" spc="-40"/>
              <a:t>Trajectories</a:t>
            </a:r>
            <a:r>
              <a:rPr dirty="0" spc="-55"/>
              <a:t> </a:t>
            </a:r>
            <a:r>
              <a:rPr dirty="0" spc="-10"/>
              <a:t>vs</a:t>
            </a:r>
            <a:r>
              <a:rPr dirty="0" spc="-50"/>
              <a:t> </a:t>
            </a:r>
            <a:r>
              <a:rPr dirty="0"/>
              <a:t>Pixel</a:t>
            </a:r>
            <a:r>
              <a:rPr dirty="0" spc="-55"/>
              <a:t> </a:t>
            </a:r>
            <a:r>
              <a:rPr dirty="0" spc="-10"/>
              <a:t>Profiles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321" y="752519"/>
            <a:ext cx="3588648" cy="118511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2310511"/>
            <a:ext cx="59601" cy="5960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66877" y="2233414"/>
            <a:ext cx="3788410" cy="6711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Arial"/>
                <a:cs typeface="Arial"/>
              </a:rPr>
              <a:t>Feature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trajectories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track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motion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specific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feature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points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across </a:t>
            </a:r>
            <a:r>
              <a:rPr dirty="0" sz="1000" spc="-40">
                <a:latin typeface="Tahoma"/>
                <a:cs typeface="Tahoma"/>
              </a:rPr>
              <a:t>frames,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but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can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break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if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features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disappear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move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out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view.</a:t>
            </a:r>
            <a:endParaRPr sz="1000">
              <a:latin typeface="Tahoma"/>
              <a:cs typeface="Tahoma"/>
            </a:endParaRPr>
          </a:p>
          <a:p>
            <a:pPr marL="12700" marR="116839">
              <a:lnSpc>
                <a:spcPct val="100000"/>
              </a:lnSpc>
              <a:spcBef>
                <a:spcPts val="290"/>
              </a:spcBef>
            </a:pPr>
            <a:r>
              <a:rPr dirty="0" sz="1000" b="1">
                <a:latin typeface="Arial"/>
                <a:cs typeface="Arial"/>
              </a:rPr>
              <a:t>Pixel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45" b="1">
                <a:latin typeface="Arial"/>
                <a:cs typeface="Arial"/>
              </a:rPr>
              <a:t>profiles</a:t>
            </a:r>
            <a:r>
              <a:rPr dirty="0" sz="1000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track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motion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same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pixel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location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over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time, </a:t>
            </a:r>
            <a:r>
              <a:rPr dirty="0" sz="1000" spc="-30">
                <a:latin typeface="Tahoma"/>
                <a:cs typeface="Tahoma"/>
              </a:rPr>
              <a:t>providing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dense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stable </a:t>
            </a:r>
            <a:r>
              <a:rPr dirty="0" sz="1000" spc="-30">
                <a:latin typeface="Tahoma"/>
                <a:cs typeface="Tahoma"/>
              </a:rPr>
              <a:t>information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every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pixel.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2652128"/>
            <a:ext cx="59601" cy="59601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8" name="object 8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5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Traditional</a:t>
            </a:r>
            <a:r>
              <a:rPr dirty="0" spc="-30"/>
              <a:t> </a:t>
            </a:r>
            <a:r>
              <a:rPr dirty="0" spc="-10"/>
              <a:t>Methods</a:t>
            </a:r>
            <a:r>
              <a:rPr dirty="0" spc="-30"/>
              <a:t> </a:t>
            </a:r>
            <a:r>
              <a:rPr dirty="0" spc="120"/>
              <a:t>&amp;</a:t>
            </a:r>
            <a:r>
              <a:rPr dirty="0" spc="-30"/>
              <a:t> </a:t>
            </a:r>
            <a:r>
              <a:rPr dirty="0"/>
              <a:t>Their</a:t>
            </a:r>
            <a:r>
              <a:rPr dirty="0" spc="-25"/>
              <a:t> </a:t>
            </a:r>
            <a:r>
              <a:rPr dirty="0" spc="-10"/>
              <a:t>Limitations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974051"/>
            <a:ext cx="59601" cy="5960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66877" y="896955"/>
            <a:ext cx="4024629" cy="1696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Traditional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stabilization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uses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global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2D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models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like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affine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 </a:t>
            </a:r>
            <a:r>
              <a:rPr dirty="0" sz="1000" spc="-40">
                <a:latin typeface="Tahoma"/>
                <a:cs typeface="Tahoma"/>
              </a:rPr>
              <a:t>homography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to </a:t>
            </a:r>
            <a:r>
              <a:rPr dirty="0" sz="1000" spc="-40">
                <a:latin typeface="Tahoma"/>
                <a:cs typeface="Tahoma"/>
              </a:rPr>
              <a:t>approximate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camera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motion.</a:t>
            </a:r>
            <a:endParaRPr sz="1000">
              <a:latin typeface="Tahoma"/>
              <a:cs typeface="Tahoma"/>
            </a:endParaRPr>
          </a:p>
          <a:p>
            <a:pPr marL="12700" marR="287020">
              <a:lnSpc>
                <a:spcPct val="100000"/>
              </a:lnSpc>
              <a:spcBef>
                <a:spcPts val="290"/>
              </a:spcBef>
            </a:pPr>
            <a:r>
              <a:rPr dirty="0" sz="1000" spc="-30">
                <a:latin typeface="Tahoma"/>
                <a:cs typeface="Tahoma"/>
              </a:rPr>
              <a:t>These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models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assume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25">
                <a:latin typeface="Tahoma"/>
                <a:cs typeface="Tahoma"/>
              </a:rPr>
              <a:t> entire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scene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moves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rigidly,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which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fails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the </a:t>
            </a:r>
            <a:r>
              <a:rPr dirty="0" sz="1000" spc="-55">
                <a:latin typeface="Tahoma"/>
                <a:cs typeface="Tahoma"/>
              </a:rPr>
              <a:t>presence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depth</a:t>
            </a:r>
            <a:r>
              <a:rPr dirty="0" sz="1000" spc="-25">
                <a:latin typeface="Tahoma"/>
                <a:cs typeface="Tahoma"/>
              </a:rPr>
              <a:t> variation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parallax.</a:t>
            </a:r>
            <a:endParaRPr sz="1000">
              <a:latin typeface="Tahoma"/>
              <a:cs typeface="Tahoma"/>
            </a:endParaRPr>
          </a:p>
          <a:p>
            <a:pPr marL="12700" marR="72390">
              <a:lnSpc>
                <a:spcPct val="100000"/>
              </a:lnSpc>
              <a:spcBef>
                <a:spcPts val="290"/>
              </a:spcBef>
            </a:pPr>
            <a:r>
              <a:rPr dirty="0" sz="1000" spc="-45">
                <a:latin typeface="Tahoma"/>
                <a:cs typeface="Tahoma"/>
              </a:rPr>
              <a:t>Feature-</a:t>
            </a:r>
            <a:r>
              <a:rPr dirty="0" sz="1000" spc="-50">
                <a:latin typeface="Tahoma"/>
                <a:cs typeface="Tahoma"/>
              </a:rPr>
              <a:t>based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tracking can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be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unreliable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when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features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disappear,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drift,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or </a:t>
            </a:r>
            <a:r>
              <a:rPr dirty="0" sz="1000" spc="-50">
                <a:latin typeface="Tahoma"/>
                <a:cs typeface="Tahoma"/>
              </a:rPr>
              <a:t>become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unevenly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distributed.</a:t>
            </a:r>
            <a:endParaRPr sz="1000">
              <a:latin typeface="Tahoma"/>
              <a:cs typeface="Tahoma"/>
            </a:endParaRPr>
          </a:p>
          <a:p>
            <a:pPr marL="12700" marR="97155">
              <a:lnSpc>
                <a:spcPct val="100000"/>
              </a:lnSpc>
              <a:spcBef>
                <a:spcPts val="290"/>
              </a:spcBef>
            </a:pPr>
            <a:r>
              <a:rPr dirty="0" sz="1000" spc="-10">
                <a:latin typeface="Tahoma"/>
                <a:cs typeface="Tahoma"/>
              </a:rPr>
              <a:t>Dynamic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objects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introduce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inconsistent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motion </a:t>
            </a:r>
            <a:r>
              <a:rPr dirty="0" sz="1000">
                <a:latin typeface="Tahoma"/>
                <a:cs typeface="Tahoma"/>
              </a:rPr>
              <a:t>that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global </a:t>
            </a:r>
            <a:r>
              <a:rPr dirty="0" sz="1000" spc="-35">
                <a:latin typeface="Tahoma"/>
                <a:cs typeface="Tahoma"/>
              </a:rPr>
              <a:t>models</a:t>
            </a:r>
            <a:r>
              <a:rPr dirty="0" sz="1000" spc="-25">
                <a:latin typeface="Tahoma"/>
                <a:cs typeface="Tahoma"/>
              </a:rPr>
              <a:t> cannot </a:t>
            </a:r>
            <a:r>
              <a:rPr dirty="0" sz="1000" spc="-10">
                <a:latin typeface="Tahoma"/>
                <a:cs typeface="Tahoma"/>
              </a:rPr>
              <a:t>represent.</a:t>
            </a:r>
            <a:endParaRPr sz="1000">
              <a:latin typeface="Tahoma"/>
              <a:cs typeface="Tahoma"/>
            </a:endParaRPr>
          </a:p>
          <a:p>
            <a:pPr marL="12700" marR="398145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latin typeface="Tahoma"/>
                <a:cs typeface="Tahoma"/>
              </a:rPr>
              <a:t>As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result,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traditional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methods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often </a:t>
            </a:r>
            <a:r>
              <a:rPr dirty="0" sz="1000" spc="-35">
                <a:latin typeface="Tahoma"/>
                <a:cs typeface="Tahoma"/>
              </a:rPr>
              <a:t>produce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wobble,</a:t>
            </a:r>
            <a:r>
              <a:rPr dirty="0" sz="1000" spc="-25">
                <a:latin typeface="Tahoma"/>
                <a:cs typeface="Tahoma"/>
              </a:rPr>
              <a:t> distortion,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or </a:t>
            </a:r>
            <a:r>
              <a:rPr dirty="0" sz="1000" spc="-55">
                <a:latin typeface="Tahoma"/>
                <a:cs typeface="Tahoma"/>
              </a:rPr>
              <a:t>over-</a:t>
            </a:r>
            <a:r>
              <a:rPr dirty="0" sz="1000" spc="-35">
                <a:latin typeface="Tahoma"/>
                <a:cs typeface="Tahoma"/>
              </a:rPr>
              <a:t>smoothing</a:t>
            </a:r>
            <a:r>
              <a:rPr dirty="0" sz="1000">
                <a:latin typeface="Tahoma"/>
                <a:cs typeface="Tahoma"/>
              </a:rPr>
              <a:t> in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complex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scenes.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315669"/>
            <a:ext cx="59601" cy="596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657286"/>
            <a:ext cx="59601" cy="5960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1998903"/>
            <a:ext cx="59601" cy="5960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05" y="2340521"/>
            <a:ext cx="59601" cy="59601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0" name="object 10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7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SteadyFlow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1247343"/>
            <a:ext cx="59601" cy="5960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66877" y="1170246"/>
            <a:ext cx="4084954" cy="1012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8542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SteadyFlow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dense-</a:t>
            </a:r>
            <a:r>
              <a:rPr dirty="0" sz="1000" spc="-35">
                <a:latin typeface="Tahoma"/>
                <a:cs typeface="Tahoma"/>
              </a:rPr>
              <a:t>flow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video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stabilization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method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designed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0">
                <a:latin typeface="Tahoma"/>
                <a:cs typeface="Tahoma"/>
              </a:rPr>
              <a:t> handle </a:t>
            </a:r>
            <a:r>
              <a:rPr dirty="0" sz="1000" spc="-35">
                <a:latin typeface="Tahoma"/>
                <a:cs typeface="Tahoma"/>
              </a:rPr>
              <a:t>spatially-</a:t>
            </a:r>
            <a:r>
              <a:rPr dirty="0" sz="1000" spc="-30">
                <a:latin typeface="Tahoma"/>
                <a:cs typeface="Tahoma"/>
              </a:rPr>
              <a:t>varying</a:t>
            </a:r>
            <a:r>
              <a:rPr dirty="0" sz="1000" spc="-20">
                <a:latin typeface="Tahoma"/>
                <a:cs typeface="Tahoma"/>
              </a:rPr>
              <a:t> motion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such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parallax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depth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changes.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290"/>
              </a:spcBef>
            </a:pPr>
            <a:r>
              <a:rPr dirty="0" sz="1000" spc="-45">
                <a:latin typeface="Tahoma"/>
                <a:cs typeface="Tahoma"/>
              </a:rPr>
              <a:t>Instead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relying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on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sparse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feature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trajectories,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it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analyzes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pixel-</a:t>
            </a:r>
            <a:r>
              <a:rPr dirty="0" sz="1000" spc="-35">
                <a:latin typeface="Tahoma"/>
                <a:cs typeface="Tahoma"/>
              </a:rPr>
              <a:t>wise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motion </a:t>
            </a:r>
            <a:r>
              <a:rPr dirty="0" sz="1000" spc="-40">
                <a:latin typeface="Tahoma"/>
                <a:cs typeface="Tahoma"/>
              </a:rPr>
              <a:t>across </a:t>
            </a:r>
            <a:r>
              <a:rPr dirty="0" sz="1000">
                <a:latin typeface="Tahoma"/>
                <a:cs typeface="Tahoma"/>
              </a:rPr>
              <a:t>time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using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 b="1">
                <a:latin typeface="Arial"/>
                <a:cs typeface="Arial"/>
              </a:rPr>
              <a:t>pixel</a:t>
            </a:r>
            <a:r>
              <a:rPr dirty="0" sz="1000" spc="1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profiles</a:t>
            </a:r>
            <a:r>
              <a:rPr dirty="0" sz="1000" spc="-1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  <a:p>
            <a:pPr marL="12700" marR="309245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core </a:t>
            </a:r>
            <a:r>
              <a:rPr dirty="0" sz="1000" spc="-25">
                <a:latin typeface="Tahoma"/>
                <a:cs typeface="Tahoma"/>
              </a:rPr>
              <a:t>idea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build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spatially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smooth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optical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flow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field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then </a:t>
            </a:r>
            <a:r>
              <a:rPr dirty="0" sz="1000" spc="-30">
                <a:latin typeface="Tahoma"/>
                <a:cs typeface="Tahoma"/>
              </a:rPr>
              <a:t>temporally</a:t>
            </a:r>
            <a:r>
              <a:rPr dirty="0" sz="1000" spc="-25">
                <a:latin typeface="Tahoma"/>
                <a:cs typeface="Tahoma"/>
              </a:rPr>
              <a:t> smooth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each</a:t>
            </a:r>
            <a:r>
              <a:rPr dirty="0" sz="1000" spc="-20">
                <a:latin typeface="Tahoma"/>
                <a:cs typeface="Tahoma"/>
              </a:rPr>
              <a:t> pixel’s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motion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obtain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25">
                <a:latin typeface="Tahoma"/>
                <a:cs typeface="Tahoma"/>
              </a:rPr>
              <a:t> stable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camera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path.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588960"/>
            <a:ext cx="59601" cy="596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930577"/>
            <a:ext cx="59601" cy="59601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8" name="object 8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5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920239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SteadyFlow:</a:t>
            </a:r>
            <a:r>
              <a:rPr dirty="0" spc="70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 spc="-25"/>
              <a:t>Process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983894"/>
            <a:ext cx="59601" cy="5960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66877" y="906797"/>
            <a:ext cx="4112260" cy="1696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37795" indent="16891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81610" algn="l"/>
              </a:tabLst>
            </a:pPr>
            <a:r>
              <a:rPr dirty="0" sz="1000" spc="-10" b="1">
                <a:latin typeface="Arial"/>
                <a:cs typeface="Arial"/>
              </a:rPr>
              <a:t>Initialization</a:t>
            </a:r>
            <a:r>
              <a:rPr dirty="0" sz="1000" spc="-10">
                <a:latin typeface="Tahoma"/>
                <a:cs typeface="Tahoma"/>
              </a:rPr>
              <a:t>:</a:t>
            </a:r>
            <a:r>
              <a:rPr dirty="0" sz="1000" spc="5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Estimate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dense</a:t>
            </a:r>
            <a:r>
              <a:rPr dirty="0" sz="1000" spc="-10">
                <a:latin typeface="Tahoma"/>
                <a:cs typeface="Tahoma"/>
              </a:rPr>
              <a:t> optical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flow</a:t>
            </a:r>
            <a:r>
              <a:rPr dirty="0" sz="1000" spc="-25">
                <a:latin typeface="Tahoma"/>
                <a:cs typeface="Tahoma"/>
              </a:rPr>
              <a:t> and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global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homography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to </a:t>
            </a:r>
            <a:r>
              <a:rPr dirty="0" sz="1000" spc="-30">
                <a:latin typeface="Tahoma"/>
                <a:cs typeface="Tahoma"/>
              </a:rPr>
              <a:t>capture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coarse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camera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motion.</a:t>
            </a:r>
            <a:endParaRPr sz="1000">
              <a:latin typeface="Tahoma"/>
              <a:cs typeface="Tahoma"/>
            </a:endParaRPr>
          </a:p>
          <a:p>
            <a:pPr marL="12700" marR="5080" indent="168910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181610" algn="l"/>
              </a:tabLst>
            </a:pPr>
            <a:r>
              <a:rPr dirty="0" sz="1000" spc="-25" b="1">
                <a:latin typeface="Arial"/>
                <a:cs typeface="Arial"/>
              </a:rPr>
              <a:t>Discontinuity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Identification</a:t>
            </a:r>
            <a:r>
              <a:rPr dirty="0" sz="1000" spc="-20">
                <a:latin typeface="Tahoma"/>
                <a:cs typeface="Tahoma"/>
              </a:rPr>
              <a:t>:</a:t>
            </a:r>
            <a:r>
              <a:rPr dirty="0" sz="1000" spc="7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Detect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unreliable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flow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regions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using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spatial </a:t>
            </a:r>
            <a:r>
              <a:rPr dirty="0" sz="1000" spc="-35">
                <a:latin typeface="Tahoma"/>
                <a:cs typeface="Tahoma"/>
              </a:rPr>
              <a:t>gradients</a:t>
            </a:r>
            <a:r>
              <a:rPr dirty="0" sz="1000" spc="-25">
                <a:latin typeface="Tahoma"/>
                <a:cs typeface="Tahoma"/>
              </a:rPr>
              <a:t> and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temporal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inconsistency.</a:t>
            </a:r>
            <a:endParaRPr sz="1000">
              <a:latin typeface="Tahoma"/>
              <a:cs typeface="Tahoma"/>
            </a:endParaRPr>
          </a:p>
          <a:p>
            <a:pPr marL="181610" indent="-168910">
              <a:lnSpc>
                <a:spcPts val="1200"/>
              </a:lnSpc>
              <a:spcBef>
                <a:spcPts val="290"/>
              </a:spcBef>
              <a:buAutoNum type="arabicPeriod"/>
              <a:tabLst>
                <a:tab pos="181610" algn="l"/>
              </a:tabLst>
            </a:pPr>
            <a:r>
              <a:rPr dirty="0" sz="1000" b="1">
                <a:latin typeface="Arial"/>
                <a:cs typeface="Arial"/>
              </a:rPr>
              <a:t>Motion</a:t>
            </a:r>
            <a:r>
              <a:rPr dirty="0" sz="1000" spc="50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Completion</a:t>
            </a:r>
            <a:r>
              <a:rPr dirty="0" sz="1000" spc="-30">
                <a:latin typeface="Tahoma"/>
                <a:cs typeface="Tahoma"/>
              </a:rPr>
              <a:t>:</a:t>
            </a:r>
            <a:r>
              <a:rPr dirty="0" sz="1000" spc="9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Fill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missing</a:t>
            </a:r>
            <a:r>
              <a:rPr dirty="0" sz="1000" spc="-10">
                <a:latin typeface="Tahoma"/>
                <a:cs typeface="Tahoma"/>
              </a:rPr>
              <a:t> or </a:t>
            </a:r>
            <a:r>
              <a:rPr dirty="0" sz="1000" spc="-30">
                <a:latin typeface="Tahoma"/>
                <a:cs typeface="Tahoma"/>
              </a:rPr>
              <a:t>inconsistent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flow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using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200"/>
              </a:lnSpc>
            </a:pPr>
            <a:r>
              <a:rPr dirty="0" sz="1000" spc="-70">
                <a:latin typeface="Tahoma"/>
                <a:cs typeface="Tahoma"/>
              </a:rPr>
              <a:t>mesh-</a:t>
            </a:r>
            <a:r>
              <a:rPr dirty="0" sz="1000" spc="-55">
                <a:latin typeface="Tahoma"/>
                <a:cs typeface="Tahoma"/>
              </a:rPr>
              <a:t>based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as-</a:t>
            </a:r>
            <a:r>
              <a:rPr dirty="0" sz="1000" spc="-40">
                <a:latin typeface="Tahoma"/>
                <a:cs typeface="Tahoma"/>
              </a:rPr>
              <a:t>similar-</a:t>
            </a:r>
            <a:r>
              <a:rPr dirty="0" sz="1000" spc="-50">
                <a:latin typeface="Tahoma"/>
                <a:cs typeface="Tahoma"/>
              </a:rPr>
              <a:t>as-</a:t>
            </a:r>
            <a:r>
              <a:rPr dirty="0" sz="1000" spc="-35">
                <a:latin typeface="Tahoma"/>
                <a:cs typeface="Tahoma"/>
              </a:rPr>
              <a:t>possible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warping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enforce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spatial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smoothness.</a:t>
            </a:r>
            <a:endParaRPr sz="1000">
              <a:latin typeface="Tahoma"/>
              <a:cs typeface="Tahoma"/>
            </a:endParaRPr>
          </a:p>
          <a:p>
            <a:pPr marL="12700" marR="155575" indent="168910">
              <a:lnSpc>
                <a:spcPct val="100000"/>
              </a:lnSpc>
              <a:spcBef>
                <a:spcPts val="295"/>
              </a:spcBef>
              <a:buAutoNum type="arabicPeriod" startAt="4"/>
              <a:tabLst>
                <a:tab pos="181610" algn="l"/>
              </a:tabLst>
            </a:pPr>
            <a:r>
              <a:rPr dirty="0" sz="1000" b="1">
                <a:latin typeface="Arial"/>
                <a:cs typeface="Arial"/>
              </a:rPr>
              <a:t>Pixel</a:t>
            </a:r>
            <a:r>
              <a:rPr dirty="0" sz="1000" spc="3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Profile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Stabilization</a:t>
            </a:r>
            <a:r>
              <a:rPr dirty="0" sz="1000" spc="-25">
                <a:latin typeface="Tahoma"/>
                <a:cs typeface="Tahoma"/>
              </a:rPr>
              <a:t>:</a:t>
            </a:r>
            <a:r>
              <a:rPr dirty="0" sz="1000" spc="7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Build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motion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profiles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each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pixel</a:t>
            </a:r>
            <a:r>
              <a:rPr dirty="0" sz="1000" spc="-25">
                <a:latin typeface="Tahoma"/>
                <a:cs typeface="Tahoma"/>
              </a:rPr>
              <a:t> across </a:t>
            </a:r>
            <a:r>
              <a:rPr dirty="0" sz="1000" spc="-10">
                <a:latin typeface="Tahoma"/>
                <a:cs typeface="Tahoma"/>
              </a:rPr>
              <a:t>time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smooth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them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using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temporal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optimization.</a:t>
            </a:r>
            <a:endParaRPr sz="1000">
              <a:latin typeface="Tahoma"/>
              <a:cs typeface="Tahoma"/>
            </a:endParaRPr>
          </a:p>
          <a:p>
            <a:pPr marL="12700" marR="184150" indent="168910">
              <a:lnSpc>
                <a:spcPct val="100000"/>
              </a:lnSpc>
              <a:spcBef>
                <a:spcPts val="290"/>
              </a:spcBef>
              <a:buAutoNum type="arabicPeriod" startAt="4"/>
              <a:tabLst>
                <a:tab pos="181610" algn="l"/>
              </a:tabLst>
            </a:pPr>
            <a:r>
              <a:rPr dirty="0" sz="1000" b="1">
                <a:latin typeface="Arial"/>
                <a:cs typeface="Arial"/>
              </a:rPr>
              <a:t>Iterative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Refinement</a:t>
            </a:r>
            <a:r>
              <a:rPr dirty="0" sz="1000" spc="-25">
                <a:latin typeface="Tahoma"/>
                <a:cs typeface="Tahoma"/>
              </a:rPr>
              <a:t>:</a:t>
            </a:r>
            <a:r>
              <a:rPr dirty="0" sz="1000" spc="8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Repeat discontinuity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detection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completion </a:t>
            </a:r>
            <a:r>
              <a:rPr dirty="0" sz="1000">
                <a:latin typeface="Tahoma"/>
                <a:cs typeface="Tahoma"/>
              </a:rPr>
              <a:t>until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flow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field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becomes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stable.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325511"/>
            <a:ext cx="59601" cy="596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667129"/>
            <a:ext cx="59601" cy="5960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2008746"/>
            <a:ext cx="59601" cy="5960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05" y="2350363"/>
            <a:ext cx="59601" cy="59601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0" name="object 10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7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52146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SteadyFlow</a:t>
            </a:r>
            <a:r>
              <a:rPr dirty="0" spc="-45"/>
              <a:t> </a:t>
            </a:r>
            <a:r>
              <a:rPr dirty="0" spc="-10"/>
              <a:t>Pipeline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004" y="444996"/>
            <a:ext cx="3454971" cy="247799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3069628"/>
            <a:ext cx="59601" cy="5960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66877" y="2992531"/>
            <a:ext cx="301434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Iteratively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refines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discontinuous</a:t>
            </a:r>
            <a:r>
              <a:rPr dirty="0" sz="1000" spc="-20">
                <a:latin typeface="Tahoma"/>
                <a:cs typeface="Tahoma"/>
              </a:rPr>
              <a:t> flow </a:t>
            </a:r>
            <a:r>
              <a:rPr dirty="0" sz="1000">
                <a:latin typeface="Tahoma"/>
                <a:cs typeface="Tahoma"/>
              </a:rPr>
              <a:t>into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25">
                <a:latin typeface="Tahoma"/>
                <a:cs typeface="Tahoma"/>
              </a:rPr>
              <a:t> smooth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field. Stabilizes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25">
                <a:latin typeface="Tahoma"/>
                <a:cs typeface="Tahoma"/>
              </a:rPr>
              <a:t> video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by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smoothing </a:t>
            </a:r>
            <a:r>
              <a:rPr dirty="0" sz="1000" spc="-20">
                <a:latin typeface="Tahoma"/>
                <a:cs typeface="Tahoma"/>
              </a:rPr>
              <a:t>pixel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motion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profiles.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3221456"/>
            <a:ext cx="59601" cy="59601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8" name="object 8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5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76898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MeshFlow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1031963"/>
            <a:ext cx="59601" cy="59601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2755" rIns="0" bIns="0" rtlCol="0" vert="horz">
            <a:spAutoFit/>
          </a:bodyPr>
          <a:lstStyle/>
          <a:p>
            <a:pPr marL="76200" marR="187325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MeshFlow</a:t>
            </a:r>
            <a:r>
              <a:rPr dirty="0" spc="-25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 spc="-30"/>
              <a:t>lightweight,</a:t>
            </a:r>
            <a:r>
              <a:rPr dirty="0" spc="-20"/>
              <a:t> </a:t>
            </a:r>
            <a:r>
              <a:rPr dirty="0" spc="-25"/>
              <a:t>online</a:t>
            </a:r>
            <a:r>
              <a:rPr dirty="0" spc="-30"/>
              <a:t> </a:t>
            </a:r>
            <a:r>
              <a:rPr dirty="0" spc="-25"/>
              <a:t>video</a:t>
            </a:r>
            <a:r>
              <a:rPr dirty="0" spc="-20"/>
              <a:t> stabilization </a:t>
            </a:r>
            <a:r>
              <a:rPr dirty="0" spc="-25"/>
              <a:t>method</a:t>
            </a:r>
            <a:r>
              <a:rPr dirty="0" spc="-20"/>
              <a:t> </a:t>
            </a:r>
            <a:r>
              <a:rPr dirty="0"/>
              <a:t>that</a:t>
            </a:r>
            <a:r>
              <a:rPr dirty="0" spc="-30"/>
              <a:t> </a:t>
            </a:r>
            <a:r>
              <a:rPr dirty="0" spc="-35"/>
              <a:t>replaces </a:t>
            </a:r>
            <a:r>
              <a:rPr dirty="0" spc="-65"/>
              <a:t>dense</a:t>
            </a:r>
            <a:r>
              <a:rPr dirty="0" spc="-15"/>
              <a:t> </a:t>
            </a:r>
            <a:r>
              <a:rPr dirty="0" spc="-20"/>
              <a:t>flow</a:t>
            </a:r>
            <a:r>
              <a:rPr dirty="0" spc="-60"/>
              <a:t> </a:t>
            </a:r>
            <a:r>
              <a:rPr dirty="0"/>
              <a:t>with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 spc="-60" b="1">
                <a:latin typeface="Arial"/>
                <a:cs typeface="Arial"/>
              </a:rPr>
              <a:t>sparse</a:t>
            </a:r>
            <a:r>
              <a:rPr dirty="0" spc="20" b="1">
                <a:latin typeface="Arial"/>
                <a:cs typeface="Arial"/>
              </a:rPr>
              <a:t> </a:t>
            </a:r>
            <a:r>
              <a:rPr dirty="0" spc="-65" b="1">
                <a:latin typeface="Arial"/>
                <a:cs typeface="Arial"/>
              </a:rPr>
              <a:t>mesh-</a:t>
            </a:r>
            <a:r>
              <a:rPr dirty="0" spc="-40" b="1">
                <a:latin typeface="Arial"/>
                <a:cs typeface="Arial"/>
              </a:rPr>
              <a:t>based</a:t>
            </a:r>
            <a:r>
              <a:rPr dirty="0" spc="1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motion</a:t>
            </a:r>
            <a:r>
              <a:rPr dirty="0" spc="2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model</a:t>
            </a:r>
            <a:r>
              <a:rPr dirty="0" spc="-10"/>
              <a:t>.</a:t>
            </a:r>
          </a:p>
          <a:p>
            <a:pPr marL="76200" marR="385445">
              <a:lnSpc>
                <a:spcPct val="100000"/>
              </a:lnSpc>
              <a:spcBef>
                <a:spcPts val="290"/>
              </a:spcBef>
            </a:pPr>
            <a:r>
              <a:rPr dirty="0" spc="-45"/>
              <a:t>Instead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30"/>
              <a:t>computing</a:t>
            </a:r>
            <a:r>
              <a:rPr dirty="0" spc="-10"/>
              <a:t> </a:t>
            </a:r>
            <a:r>
              <a:rPr dirty="0" spc="-65"/>
              <a:t>dense</a:t>
            </a:r>
            <a:r>
              <a:rPr dirty="0" spc="-5"/>
              <a:t> </a:t>
            </a:r>
            <a:r>
              <a:rPr dirty="0" spc="-20"/>
              <a:t>pixel</a:t>
            </a:r>
            <a:r>
              <a:rPr dirty="0" spc="-5"/>
              <a:t> </a:t>
            </a:r>
            <a:r>
              <a:rPr dirty="0" spc="-20"/>
              <a:t>motion,</a:t>
            </a:r>
            <a:r>
              <a:rPr dirty="0" spc="-5"/>
              <a:t> </a:t>
            </a:r>
            <a:r>
              <a:rPr dirty="0"/>
              <a:t>it</a:t>
            </a:r>
            <a:r>
              <a:rPr dirty="0" spc="-5"/>
              <a:t> </a:t>
            </a:r>
            <a:r>
              <a:rPr dirty="0" spc="-20"/>
              <a:t>tracks</a:t>
            </a:r>
            <a:r>
              <a:rPr dirty="0" spc="-5"/>
              <a:t> </a:t>
            </a:r>
            <a:r>
              <a:rPr dirty="0" spc="-60"/>
              <a:t>sparse</a:t>
            </a:r>
            <a:r>
              <a:rPr dirty="0" spc="-5"/>
              <a:t> </a:t>
            </a:r>
            <a:r>
              <a:rPr dirty="0" spc="-40"/>
              <a:t>features</a:t>
            </a:r>
            <a:r>
              <a:rPr dirty="0" spc="-5"/>
              <a:t> </a:t>
            </a:r>
            <a:r>
              <a:rPr dirty="0" spc="-25"/>
              <a:t>and </a:t>
            </a:r>
            <a:r>
              <a:rPr dirty="0" spc="-45"/>
              <a:t>propagates</a:t>
            </a:r>
            <a:r>
              <a:rPr dirty="0" spc="-20"/>
              <a:t> </a:t>
            </a:r>
            <a:r>
              <a:rPr dirty="0" spc="-10"/>
              <a:t>their</a:t>
            </a:r>
            <a:r>
              <a:rPr dirty="0" spc="-15"/>
              <a:t> </a:t>
            </a:r>
            <a:r>
              <a:rPr dirty="0" spc="-20"/>
              <a:t>motion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 spc="-60"/>
              <a:t>mesh</a:t>
            </a:r>
            <a:r>
              <a:rPr dirty="0" spc="-10"/>
              <a:t> vertices.</a:t>
            </a:r>
          </a:p>
          <a:p>
            <a:pPr marL="76200" marR="5080">
              <a:lnSpc>
                <a:spcPct val="100000"/>
              </a:lnSpc>
              <a:spcBef>
                <a:spcPts val="290"/>
              </a:spcBef>
            </a:pPr>
            <a:r>
              <a:rPr dirty="0"/>
              <a:t>Two</a:t>
            </a:r>
            <a:r>
              <a:rPr dirty="0" spc="-25"/>
              <a:t> </a:t>
            </a:r>
            <a:r>
              <a:rPr dirty="0" spc="-35"/>
              <a:t>median</a:t>
            </a:r>
            <a:r>
              <a:rPr dirty="0" spc="-20"/>
              <a:t> </a:t>
            </a:r>
            <a:r>
              <a:rPr dirty="0" spc="-10"/>
              <a:t>filters</a:t>
            </a:r>
            <a:r>
              <a:rPr dirty="0" spc="-25"/>
              <a:t> </a:t>
            </a:r>
            <a:r>
              <a:rPr dirty="0" spc="-55"/>
              <a:t>remove</a:t>
            </a:r>
            <a:r>
              <a:rPr dirty="0" spc="-20"/>
              <a:t> </a:t>
            </a:r>
            <a:r>
              <a:rPr dirty="0" spc="-25"/>
              <a:t>outliers</a:t>
            </a:r>
            <a:r>
              <a:rPr dirty="0" spc="-30"/>
              <a:t> </a:t>
            </a:r>
            <a:r>
              <a:rPr dirty="0" spc="-25"/>
              <a:t>and</a:t>
            </a:r>
            <a:r>
              <a:rPr dirty="0" spc="-20"/>
              <a:t> </a:t>
            </a:r>
            <a:r>
              <a:rPr dirty="0" spc="-45"/>
              <a:t>enforce</a:t>
            </a:r>
            <a:r>
              <a:rPr dirty="0" spc="-25"/>
              <a:t> </a:t>
            </a:r>
            <a:r>
              <a:rPr dirty="0" spc="-20"/>
              <a:t>spatial </a:t>
            </a:r>
            <a:r>
              <a:rPr dirty="0" spc="-45"/>
              <a:t>smoothness</a:t>
            </a:r>
            <a:r>
              <a:rPr dirty="0" spc="-25"/>
              <a:t> </a:t>
            </a:r>
            <a:r>
              <a:rPr dirty="0" spc="-40"/>
              <a:t>across</a:t>
            </a:r>
            <a:r>
              <a:rPr dirty="0" spc="-25"/>
              <a:t> the </a:t>
            </a:r>
            <a:r>
              <a:rPr dirty="0" spc="-10"/>
              <a:t>mesh.</a:t>
            </a:r>
          </a:p>
          <a:p>
            <a:pPr marL="76200">
              <a:lnSpc>
                <a:spcPct val="100000"/>
              </a:lnSpc>
              <a:spcBef>
                <a:spcPts val="290"/>
              </a:spcBef>
            </a:pPr>
            <a:r>
              <a:rPr dirty="0"/>
              <a:t>It</a:t>
            </a:r>
            <a:r>
              <a:rPr dirty="0" spc="-5"/>
              <a:t> </a:t>
            </a:r>
            <a:r>
              <a:rPr dirty="0" spc="-30"/>
              <a:t>avoids</a:t>
            </a:r>
            <a:r>
              <a:rPr dirty="0" spc="5"/>
              <a:t> </a:t>
            </a:r>
            <a:r>
              <a:rPr dirty="0" spc="-25"/>
              <a:t>SteadyFlow’s</a:t>
            </a:r>
            <a:r>
              <a:rPr dirty="0"/>
              <a:t> </a:t>
            </a:r>
            <a:r>
              <a:rPr dirty="0" spc="-50"/>
              <a:t>heavy</a:t>
            </a:r>
            <a:r>
              <a:rPr dirty="0"/>
              <a:t> </a:t>
            </a:r>
            <a:r>
              <a:rPr dirty="0" spc="-20"/>
              <a:t>flow</a:t>
            </a:r>
            <a:r>
              <a:rPr dirty="0"/>
              <a:t> </a:t>
            </a:r>
            <a:r>
              <a:rPr dirty="0" spc="-40"/>
              <a:t>refinement</a:t>
            </a:r>
            <a:r>
              <a:rPr dirty="0" spc="5"/>
              <a:t> </a:t>
            </a:r>
            <a:r>
              <a:rPr dirty="0" spc="-25"/>
              <a:t>and</a:t>
            </a:r>
            <a:r>
              <a:rPr dirty="0" spc="5"/>
              <a:t> </a:t>
            </a:r>
            <a:r>
              <a:rPr dirty="0"/>
              <a:t>ASAP </a:t>
            </a:r>
            <a:r>
              <a:rPr dirty="0" spc="-20"/>
              <a:t>motion</a:t>
            </a:r>
            <a:r>
              <a:rPr dirty="0" spc="5"/>
              <a:t> </a:t>
            </a:r>
            <a:r>
              <a:rPr dirty="0" spc="-10"/>
              <a:t>completion.</a:t>
            </a:r>
          </a:p>
          <a:p>
            <a:pPr marL="76200" marR="465455">
              <a:lnSpc>
                <a:spcPct val="100000"/>
              </a:lnSpc>
              <a:spcBef>
                <a:spcPts val="295"/>
              </a:spcBef>
            </a:pPr>
            <a:r>
              <a:rPr dirty="0" spc="-10"/>
              <a:t>Predicts</a:t>
            </a:r>
            <a:r>
              <a:rPr dirty="0" spc="-5"/>
              <a:t> </a:t>
            </a:r>
            <a:r>
              <a:rPr dirty="0" spc="-20"/>
              <a:t>stabilization</a:t>
            </a:r>
            <a:r>
              <a:rPr dirty="0"/>
              <a:t> </a:t>
            </a:r>
            <a:r>
              <a:rPr dirty="0" spc="-30"/>
              <a:t>strength</a:t>
            </a:r>
            <a:r>
              <a:rPr dirty="0" spc="5"/>
              <a:t> </a:t>
            </a:r>
            <a:r>
              <a:rPr dirty="0" spc="-30"/>
              <a:t>using</a:t>
            </a:r>
            <a:r>
              <a:rPr dirty="0" spc="-5"/>
              <a:t> </a:t>
            </a:r>
            <a:r>
              <a:rPr dirty="0"/>
              <a:t>PAPS</a:t>
            </a:r>
            <a:r>
              <a:rPr dirty="0" spc="-5"/>
              <a:t> </a:t>
            </a:r>
            <a:r>
              <a:rPr dirty="0" spc="-10"/>
              <a:t>(Predicted</a:t>
            </a:r>
            <a:r>
              <a:rPr dirty="0" spc="5"/>
              <a:t> </a:t>
            </a:r>
            <a:r>
              <a:rPr dirty="0" spc="-20"/>
              <a:t>Adaptive</a:t>
            </a:r>
            <a:r>
              <a:rPr dirty="0"/>
              <a:t> </a:t>
            </a:r>
            <a:r>
              <a:rPr dirty="0" spc="-20"/>
              <a:t>Path </a:t>
            </a:r>
            <a:r>
              <a:rPr dirty="0" spc="-25"/>
              <a:t>Smoothing), </a:t>
            </a:r>
            <a:r>
              <a:rPr dirty="0" spc="-35"/>
              <a:t>removing</a:t>
            </a:r>
            <a:r>
              <a:rPr dirty="0" spc="-25"/>
              <a:t> </a:t>
            </a:r>
            <a:r>
              <a:rPr dirty="0" spc="-10"/>
              <a:t>the</a:t>
            </a:r>
            <a:r>
              <a:rPr dirty="0" spc="-20"/>
              <a:t> iterative</a:t>
            </a:r>
            <a:r>
              <a:rPr dirty="0" spc="-25"/>
              <a:t> </a:t>
            </a:r>
            <a:r>
              <a:rPr dirty="0" spc="-55"/>
              <a:t>search</a:t>
            </a:r>
            <a:r>
              <a:rPr dirty="0" spc="-20"/>
              <a:t> </a:t>
            </a:r>
            <a:r>
              <a:rPr dirty="0" spc="-55"/>
              <a:t>used</a:t>
            </a:r>
            <a:r>
              <a:rPr dirty="0" spc="-20"/>
              <a:t> by </a:t>
            </a:r>
            <a:r>
              <a:rPr dirty="0" spc="-10"/>
              <a:t>SteadyFlow.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373593"/>
            <a:ext cx="59601" cy="596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715211"/>
            <a:ext cx="59601" cy="5960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2056828"/>
            <a:ext cx="59601" cy="5960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05" y="2246617"/>
            <a:ext cx="59601" cy="59601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0" name="object 10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7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55702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Smoothing</a:t>
            </a:r>
            <a:r>
              <a:rPr dirty="0" spc="-35"/>
              <a:t> Formulas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5729" y="468502"/>
            <a:ext cx="4457065" cy="198755"/>
          </a:xfrm>
          <a:custGeom>
            <a:avLst/>
            <a:gdLst/>
            <a:ahLst/>
            <a:cxnLst/>
            <a:rect l="l" t="t" r="r" b="b"/>
            <a:pathLst>
              <a:path w="4457065" h="198754">
                <a:moveTo>
                  <a:pt x="440580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56606" y="198367"/>
                </a:lnTo>
                <a:lnTo>
                  <a:pt x="4456606" y="50800"/>
                </a:lnTo>
                <a:lnTo>
                  <a:pt x="4452598" y="31075"/>
                </a:lnTo>
                <a:lnTo>
                  <a:pt x="4441684" y="14922"/>
                </a:lnTo>
                <a:lnTo>
                  <a:pt x="4425531" y="4008"/>
                </a:lnTo>
                <a:lnTo>
                  <a:pt x="4405806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26530" y="496963"/>
            <a:ext cx="708660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55">
                <a:solidFill>
                  <a:srgbClr val="FFFFFF"/>
                </a:solidFill>
                <a:latin typeface="Tahoma"/>
                <a:cs typeface="Tahoma"/>
              </a:rPr>
              <a:t>SteadyFlow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75729" y="525439"/>
            <a:ext cx="4507865" cy="757555"/>
            <a:chOff x="75729" y="525439"/>
            <a:chExt cx="4507865" cy="75755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9" y="654215"/>
              <a:ext cx="4456607" cy="5060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26530" y="525439"/>
              <a:ext cx="4457065" cy="757555"/>
            </a:xfrm>
            <a:custGeom>
              <a:avLst/>
              <a:gdLst/>
              <a:ahLst/>
              <a:cxnLst/>
              <a:rect l="l" t="t" r="r" b="b"/>
              <a:pathLst>
                <a:path w="4457065" h="757555">
                  <a:moveTo>
                    <a:pt x="4456607" y="0"/>
                  </a:moveTo>
                  <a:lnTo>
                    <a:pt x="0" y="0"/>
                  </a:lnTo>
                  <a:lnTo>
                    <a:pt x="0" y="757248"/>
                  </a:lnTo>
                  <a:lnTo>
                    <a:pt x="4456607" y="757248"/>
                  </a:lnTo>
                  <a:lnTo>
                    <a:pt x="44566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5729" y="698501"/>
              <a:ext cx="4457065" cy="533400"/>
            </a:xfrm>
            <a:custGeom>
              <a:avLst/>
              <a:gdLst/>
              <a:ahLst/>
              <a:cxnLst/>
              <a:rect l="l" t="t" r="r" b="b"/>
              <a:pathLst>
                <a:path w="4457065" h="533400">
                  <a:moveTo>
                    <a:pt x="4456606" y="0"/>
                  </a:moveTo>
                  <a:lnTo>
                    <a:pt x="0" y="0"/>
                  </a:lnTo>
                  <a:lnTo>
                    <a:pt x="0" y="482585"/>
                  </a:lnTo>
                  <a:lnTo>
                    <a:pt x="4008" y="502310"/>
                  </a:lnTo>
                  <a:lnTo>
                    <a:pt x="14922" y="518463"/>
                  </a:lnTo>
                  <a:lnTo>
                    <a:pt x="31075" y="529377"/>
                  </a:lnTo>
                  <a:lnTo>
                    <a:pt x="50800" y="533385"/>
                  </a:lnTo>
                  <a:lnTo>
                    <a:pt x="4405806" y="533385"/>
                  </a:lnTo>
                  <a:lnTo>
                    <a:pt x="4425531" y="529377"/>
                  </a:lnTo>
                  <a:lnTo>
                    <a:pt x="4441684" y="518463"/>
                  </a:lnTo>
                  <a:lnTo>
                    <a:pt x="4452598" y="502310"/>
                  </a:lnTo>
                  <a:lnTo>
                    <a:pt x="4456606" y="482585"/>
                  </a:lnTo>
                  <a:lnTo>
                    <a:pt x="445660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825588" y="916719"/>
            <a:ext cx="39560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00" spc="-55" i="1">
                <a:latin typeface="Arial"/>
                <a:cs typeface="Arial"/>
              </a:rPr>
              <a:t>E</a:t>
            </a:r>
            <a:r>
              <a:rPr dirty="0" sz="900" spc="-125" i="1">
                <a:latin typeface="Arial"/>
                <a:cs typeface="Arial"/>
              </a:rPr>
              <a:t> </a:t>
            </a:r>
            <a:r>
              <a:rPr dirty="0" sz="900">
                <a:latin typeface="Tahoma"/>
                <a:cs typeface="Tahoma"/>
              </a:rPr>
              <a:t>(</a:t>
            </a:r>
            <a:r>
              <a:rPr dirty="0" sz="900" i="1">
                <a:latin typeface="Arial"/>
                <a:cs typeface="Arial"/>
              </a:rPr>
              <a:t>P</a:t>
            </a:r>
            <a:r>
              <a:rPr dirty="0" sz="900">
                <a:latin typeface="Tahoma"/>
                <a:cs typeface="Tahoma"/>
              </a:rPr>
              <a:t>)</a:t>
            </a:r>
            <a:r>
              <a:rPr dirty="0" sz="900" spc="30">
                <a:latin typeface="Tahoma"/>
                <a:cs typeface="Tahoma"/>
              </a:rPr>
              <a:t> </a:t>
            </a:r>
            <a:r>
              <a:rPr dirty="0" sz="900" spc="15">
                <a:latin typeface="Tahoma"/>
                <a:cs typeface="Tahoma"/>
              </a:rPr>
              <a:t>=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40726" y="808540"/>
            <a:ext cx="18224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00" spc="740">
                <a:latin typeface="Lucida Sans Unicode"/>
                <a:cs typeface="Lucida Sans Unicode"/>
              </a:rPr>
              <a:t>Σ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07998" y="1086185"/>
            <a:ext cx="419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600" spc="-50" i="1">
                <a:latin typeface="Trebuchet MS"/>
                <a:cs typeface="Trebuchet MS"/>
              </a:rPr>
              <a:t>t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29283" y="722244"/>
            <a:ext cx="10541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Lucida Sans Unicode"/>
                <a:cs typeface="Lucida Sans Unicode"/>
              </a:rPr>
              <a:t> </a:t>
            </a:r>
            <a:endParaRPr sz="900">
              <a:latin typeface="Lucida Sans Unicode"/>
              <a:cs typeface="Lucida Sans Unicode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534629" y="957567"/>
            <a:ext cx="688975" cy="114300"/>
            <a:chOff x="1534629" y="957567"/>
            <a:chExt cx="688975" cy="114300"/>
          </a:xfrm>
        </p:grpSpPr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4629" y="957567"/>
              <a:ext cx="31750" cy="11430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1599" y="957567"/>
              <a:ext cx="31750" cy="114300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2237447" y="899965"/>
            <a:ext cx="533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555760" y="808540"/>
            <a:ext cx="18224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00" spc="740">
                <a:latin typeface="Lucida Sans Unicode"/>
                <a:cs typeface="Lucida Sans Unicode"/>
              </a:rPr>
              <a:t>Σ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622372" y="1086185"/>
            <a:ext cx="406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600" spc="-50" i="1">
                <a:latin typeface="Trebuchet MS"/>
                <a:cs typeface="Trebuchet MS"/>
              </a:rPr>
              <a:t>r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580449" y="916719"/>
            <a:ext cx="125666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728980" algn="l"/>
                <a:tab pos="1163320" algn="l"/>
              </a:tabLst>
            </a:pPr>
            <a:r>
              <a:rPr dirty="0" sz="900" spc="50" i="1">
                <a:latin typeface="Arial"/>
                <a:cs typeface="Arial"/>
              </a:rPr>
              <a:t>P</a:t>
            </a:r>
            <a:r>
              <a:rPr dirty="0" sz="900" spc="50">
                <a:latin typeface="Tahoma"/>
                <a:cs typeface="Tahoma"/>
              </a:rPr>
              <a:t>(</a:t>
            </a:r>
            <a:r>
              <a:rPr dirty="0" sz="900" spc="50" i="1">
                <a:latin typeface="Arial"/>
                <a:cs typeface="Arial"/>
              </a:rPr>
              <a:t>t</a:t>
            </a:r>
            <a:r>
              <a:rPr dirty="0" sz="900" spc="50">
                <a:latin typeface="Tahoma"/>
                <a:cs typeface="Tahoma"/>
              </a:rPr>
              <a:t>)</a:t>
            </a:r>
            <a:r>
              <a:rPr dirty="0" sz="900" spc="-75">
                <a:latin typeface="Tahoma"/>
                <a:cs typeface="Tahoma"/>
              </a:rPr>
              <a:t> </a:t>
            </a:r>
            <a:r>
              <a:rPr dirty="0" sz="900" spc="185" i="1">
                <a:latin typeface="Arial"/>
                <a:cs typeface="Arial"/>
              </a:rPr>
              <a:t>−</a:t>
            </a:r>
            <a:r>
              <a:rPr dirty="0" sz="900" spc="-40" i="1">
                <a:latin typeface="Arial"/>
                <a:cs typeface="Arial"/>
              </a:rPr>
              <a:t> </a:t>
            </a:r>
            <a:r>
              <a:rPr dirty="0" sz="900" spc="-65" i="1">
                <a:latin typeface="Arial"/>
                <a:cs typeface="Arial"/>
              </a:rPr>
              <a:t>C</a:t>
            </a:r>
            <a:r>
              <a:rPr dirty="0" sz="900" spc="-140" i="1">
                <a:latin typeface="Arial"/>
                <a:cs typeface="Arial"/>
              </a:rPr>
              <a:t> </a:t>
            </a:r>
            <a:r>
              <a:rPr dirty="0" sz="900" spc="25">
                <a:latin typeface="Tahoma"/>
                <a:cs typeface="Tahoma"/>
              </a:rPr>
              <a:t>(</a:t>
            </a:r>
            <a:r>
              <a:rPr dirty="0" sz="900" spc="25" i="1">
                <a:latin typeface="Arial"/>
                <a:cs typeface="Arial"/>
              </a:rPr>
              <a:t>t</a:t>
            </a:r>
            <a:r>
              <a:rPr dirty="0" sz="900" spc="25">
                <a:latin typeface="Tahoma"/>
                <a:cs typeface="Tahoma"/>
              </a:rPr>
              <a:t>)</a:t>
            </a:r>
            <a:r>
              <a:rPr dirty="0" sz="900">
                <a:latin typeface="Tahoma"/>
                <a:cs typeface="Tahoma"/>
              </a:rPr>
              <a:t>	</a:t>
            </a:r>
            <a:r>
              <a:rPr dirty="0" sz="900" spc="65">
                <a:latin typeface="Tahoma"/>
                <a:cs typeface="Tahoma"/>
              </a:rPr>
              <a:t>+</a:t>
            </a:r>
            <a:r>
              <a:rPr dirty="0" sz="900" spc="-80">
                <a:latin typeface="Tahoma"/>
                <a:cs typeface="Tahoma"/>
              </a:rPr>
              <a:t> </a:t>
            </a:r>
            <a:r>
              <a:rPr dirty="0" sz="900" spc="45" i="1">
                <a:latin typeface="Arial"/>
                <a:cs typeface="Arial"/>
              </a:rPr>
              <a:t>λ</a:t>
            </a:r>
            <a:r>
              <a:rPr dirty="0" sz="900" i="1">
                <a:latin typeface="Arial"/>
                <a:cs typeface="Arial"/>
              </a:rPr>
              <a:t>	</a:t>
            </a:r>
            <a:r>
              <a:rPr dirty="0" sz="900" spc="-50" i="1">
                <a:latin typeface="Arial"/>
                <a:cs typeface="Arial"/>
              </a:rPr>
              <a:t>w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495423" y="967326"/>
            <a:ext cx="43243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28295" algn="l"/>
              </a:tabLst>
            </a:pPr>
            <a:r>
              <a:rPr dirty="0" sz="600" spc="-50" i="1">
                <a:latin typeface="Trebuchet MS"/>
                <a:cs typeface="Trebuchet MS"/>
              </a:rPr>
              <a:t>t</a:t>
            </a:r>
            <a:r>
              <a:rPr dirty="0" sz="600" i="1">
                <a:latin typeface="Trebuchet MS"/>
                <a:cs typeface="Trebuchet MS"/>
              </a:rPr>
              <a:t>	</a:t>
            </a:r>
            <a:r>
              <a:rPr dirty="0" sz="600" spc="-25" i="1">
                <a:latin typeface="Trebuchet MS"/>
                <a:cs typeface="Trebuchet MS"/>
              </a:rPr>
              <a:t>t,r</a:t>
            </a:r>
            <a:endParaRPr sz="600">
              <a:latin typeface="Trebuchet MS"/>
              <a:cs typeface="Trebuchet MS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42463" y="957567"/>
            <a:ext cx="31750" cy="114300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2988282" y="916719"/>
            <a:ext cx="60896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00" spc="50" i="1">
                <a:latin typeface="Arial"/>
                <a:cs typeface="Arial"/>
              </a:rPr>
              <a:t>P</a:t>
            </a:r>
            <a:r>
              <a:rPr dirty="0" sz="900" spc="50">
                <a:latin typeface="Tahoma"/>
                <a:cs typeface="Tahoma"/>
              </a:rPr>
              <a:t>(</a:t>
            </a:r>
            <a:r>
              <a:rPr dirty="0" sz="900" spc="50" i="1">
                <a:latin typeface="Arial"/>
                <a:cs typeface="Arial"/>
              </a:rPr>
              <a:t>t</a:t>
            </a:r>
            <a:r>
              <a:rPr dirty="0" sz="900" spc="50">
                <a:latin typeface="Tahoma"/>
                <a:cs typeface="Tahoma"/>
              </a:rPr>
              <a:t>)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 spc="185" i="1">
                <a:latin typeface="Arial"/>
                <a:cs typeface="Arial"/>
              </a:rPr>
              <a:t>−</a:t>
            </a:r>
            <a:r>
              <a:rPr dirty="0" sz="900" spc="-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P</a:t>
            </a:r>
            <a:r>
              <a:rPr dirty="0" sz="900">
                <a:latin typeface="Tahoma"/>
                <a:cs typeface="Tahoma"/>
              </a:rPr>
              <a:t>(</a:t>
            </a:r>
            <a:r>
              <a:rPr dirty="0" sz="900" i="1">
                <a:latin typeface="Arial"/>
                <a:cs typeface="Arial"/>
              </a:rPr>
              <a:t>r</a:t>
            </a:r>
            <a:r>
              <a:rPr dirty="0" sz="900" spc="-135" i="1">
                <a:latin typeface="Arial"/>
                <a:cs typeface="Arial"/>
              </a:rPr>
              <a:t> </a:t>
            </a:r>
            <a:r>
              <a:rPr dirty="0" sz="900" spc="-50">
                <a:latin typeface="Tahoma"/>
                <a:cs typeface="Tahoma"/>
              </a:rPr>
              <a:t>)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7245" y="957567"/>
            <a:ext cx="31750" cy="114300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3643109" y="899978"/>
            <a:ext cx="533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689768" y="722244"/>
            <a:ext cx="10541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00" spc="385">
                <a:latin typeface="Lucida Sans Unicode"/>
                <a:cs typeface="Lucida Sans Unicode"/>
              </a:rPr>
              <a:t>!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75729" y="1578050"/>
            <a:ext cx="4457065" cy="215265"/>
          </a:xfrm>
          <a:custGeom>
            <a:avLst/>
            <a:gdLst/>
            <a:ahLst/>
            <a:cxnLst/>
            <a:rect l="l" t="t" r="r" b="b"/>
            <a:pathLst>
              <a:path w="4457065" h="215264">
                <a:moveTo>
                  <a:pt x="440580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4456606" y="215238"/>
                </a:lnTo>
                <a:lnTo>
                  <a:pt x="4456606" y="50800"/>
                </a:lnTo>
                <a:lnTo>
                  <a:pt x="4452598" y="31075"/>
                </a:lnTo>
                <a:lnTo>
                  <a:pt x="4441684" y="14922"/>
                </a:lnTo>
                <a:lnTo>
                  <a:pt x="4425531" y="4008"/>
                </a:lnTo>
                <a:lnTo>
                  <a:pt x="4405806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26530" y="1614931"/>
            <a:ext cx="1142365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45">
                <a:solidFill>
                  <a:srgbClr val="FFFFFF"/>
                </a:solidFill>
                <a:latin typeface="Tahoma"/>
                <a:cs typeface="Tahoma"/>
              </a:rPr>
              <a:t>MeshFlow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(PAPS)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75729" y="1634958"/>
            <a:ext cx="4507865" cy="1686560"/>
            <a:chOff x="75729" y="1634958"/>
            <a:chExt cx="4507865" cy="1686560"/>
          </a:xfrm>
        </p:grpSpPr>
        <p:pic>
          <p:nvPicPr>
            <p:cNvPr id="29" name="object 2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29" y="1780629"/>
              <a:ext cx="4456607" cy="50609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26530" y="1634958"/>
              <a:ext cx="4457065" cy="1686560"/>
            </a:xfrm>
            <a:custGeom>
              <a:avLst/>
              <a:gdLst/>
              <a:ahLst/>
              <a:cxnLst/>
              <a:rect l="l" t="t" r="r" b="b"/>
              <a:pathLst>
                <a:path w="4457065" h="1686560">
                  <a:moveTo>
                    <a:pt x="4456607" y="0"/>
                  </a:moveTo>
                  <a:lnTo>
                    <a:pt x="0" y="0"/>
                  </a:lnTo>
                  <a:lnTo>
                    <a:pt x="0" y="1686448"/>
                  </a:lnTo>
                  <a:lnTo>
                    <a:pt x="4456607" y="1686448"/>
                  </a:lnTo>
                  <a:lnTo>
                    <a:pt x="44566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5729" y="1824891"/>
              <a:ext cx="4457065" cy="1445895"/>
            </a:xfrm>
            <a:custGeom>
              <a:avLst/>
              <a:gdLst/>
              <a:ahLst/>
              <a:cxnLst/>
              <a:rect l="l" t="t" r="r" b="b"/>
              <a:pathLst>
                <a:path w="4457065" h="1445895">
                  <a:moveTo>
                    <a:pt x="4456606" y="0"/>
                  </a:moveTo>
                  <a:lnTo>
                    <a:pt x="0" y="0"/>
                  </a:lnTo>
                  <a:lnTo>
                    <a:pt x="0" y="1394914"/>
                  </a:lnTo>
                  <a:lnTo>
                    <a:pt x="4008" y="1414639"/>
                  </a:lnTo>
                  <a:lnTo>
                    <a:pt x="14922" y="1430792"/>
                  </a:lnTo>
                  <a:lnTo>
                    <a:pt x="31075" y="1441706"/>
                  </a:lnTo>
                  <a:lnTo>
                    <a:pt x="50800" y="1445715"/>
                  </a:lnTo>
                  <a:lnTo>
                    <a:pt x="4405806" y="1445715"/>
                  </a:lnTo>
                  <a:lnTo>
                    <a:pt x="4425531" y="1441706"/>
                  </a:lnTo>
                  <a:lnTo>
                    <a:pt x="4441684" y="1430792"/>
                  </a:lnTo>
                  <a:lnTo>
                    <a:pt x="4452598" y="1414639"/>
                  </a:lnTo>
                  <a:lnTo>
                    <a:pt x="4456606" y="1394914"/>
                  </a:lnTo>
                  <a:lnTo>
                    <a:pt x="445660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1644142" y="2020981"/>
            <a:ext cx="546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i="1">
                <a:latin typeface="Trebuchet MS"/>
                <a:cs typeface="Trebuchet MS"/>
              </a:rPr>
              <a:t>t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044166" y="1844225"/>
            <a:ext cx="9525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Lucida Sans Unicode"/>
                <a:cs typeface="Lucida Sans Unicode"/>
              </a:rPr>
              <a:t> 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552242" y="1950128"/>
            <a:ext cx="3581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Tahoma"/>
                <a:cs typeface="Tahoma"/>
              </a:rPr>
              <a:t>(1)</a:t>
            </a:r>
            <a:r>
              <a:rPr dirty="0" sz="600" spc="320">
                <a:latin typeface="Tahoma"/>
                <a:cs typeface="Tahoma"/>
              </a:rPr>
              <a:t>  </a:t>
            </a:r>
            <a:r>
              <a:rPr dirty="0" sz="600" spc="-25">
                <a:latin typeface="Tahoma"/>
                <a:cs typeface="Tahoma"/>
              </a:rPr>
              <a:t>(2)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552242" y="2031713"/>
            <a:ext cx="2844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1935" algn="l"/>
              </a:tabLst>
            </a:pPr>
            <a:r>
              <a:rPr dirty="0" sz="600" spc="-50" i="1">
                <a:latin typeface="Trebuchet MS"/>
                <a:cs typeface="Trebuchet MS"/>
              </a:rPr>
              <a:t>t</a:t>
            </a:r>
            <a:r>
              <a:rPr dirty="0" sz="600" i="1">
                <a:latin typeface="Trebuchet MS"/>
                <a:cs typeface="Trebuchet MS"/>
              </a:rPr>
              <a:t>	</a:t>
            </a:r>
            <a:r>
              <a:rPr dirty="0" sz="600" spc="-50" i="1">
                <a:latin typeface="Trebuchet MS"/>
                <a:cs typeface="Trebuchet MS"/>
              </a:rPr>
              <a:t>t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575879" y="1970374"/>
            <a:ext cx="138684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95" i="1">
                <a:latin typeface="Arial"/>
                <a:cs typeface="Arial"/>
              </a:rPr>
              <a:t>λ</a:t>
            </a:r>
            <a:r>
              <a:rPr dirty="0" sz="900" spc="320" i="1">
                <a:latin typeface="Arial"/>
                <a:cs typeface="Arial"/>
              </a:rPr>
              <a:t> </a:t>
            </a:r>
            <a:r>
              <a:rPr dirty="0" sz="900" spc="65">
                <a:latin typeface="Tahoma"/>
                <a:cs typeface="Tahoma"/>
              </a:rPr>
              <a:t>=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max</a:t>
            </a:r>
            <a:r>
              <a:rPr dirty="0" sz="900" spc="27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0</a:t>
            </a:r>
            <a:r>
              <a:rPr dirty="0" sz="900" i="1">
                <a:latin typeface="Arial"/>
                <a:cs typeface="Arial"/>
              </a:rPr>
              <a:t>,</a:t>
            </a:r>
            <a:r>
              <a:rPr dirty="0" sz="900" spc="155" i="1">
                <a:latin typeface="Arial"/>
                <a:cs typeface="Arial"/>
              </a:rPr>
              <a:t> </a:t>
            </a:r>
            <a:r>
              <a:rPr dirty="0" sz="900">
                <a:latin typeface="Tahoma"/>
                <a:cs typeface="Tahoma"/>
              </a:rPr>
              <a:t>min(</a:t>
            </a:r>
            <a:r>
              <a:rPr dirty="0" sz="900" i="1">
                <a:latin typeface="Arial"/>
                <a:cs typeface="Arial"/>
              </a:rPr>
              <a:t>λ</a:t>
            </a:r>
            <a:r>
              <a:rPr dirty="0" sz="900" spc="175" i="1">
                <a:latin typeface="Arial"/>
                <a:cs typeface="Arial"/>
              </a:rPr>
              <a:t>  </a:t>
            </a:r>
            <a:r>
              <a:rPr dirty="0" sz="900" i="1">
                <a:latin typeface="Arial"/>
                <a:cs typeface="Arial"/>
              </a:rPr>
              <a:t>,</a:t>
            </a:r>
            <a:r>
              <a:rPr dirty="0" sz="900" spc="-95" i="1">
                <a:latin typeface="Arial"/>
                <a:cs typeface="Arial"/>
              </a:rPr>
              <a:t> </a:t>
            </a:r>
            <a:r>
              <a:rPr dirty="0" sz="900" spc="95" i="1">
                <a:latin typeface="Arial"/>
                <a:cs typeface="Arial"/>
              </a:rPr>
              <a:t>λ</a:t>
            </a:r>
            <a:r>
              <a:rPr dirty="0" sz="900" spc="175" i="1">
                <a:latin typeface="Arial"/>
                <a:cs typeface="Arial"/>
              </a:rPr>
              <a:t>  </a:t>
            </a:r>
            <a:r>
              <a:rPr dirty="0" sz="900" spc="-50">
                <a:latin typeface="Tahoma"/>
                <a:cs typeface="Tahoma"/>
              </a:rPr>
              <a:t>)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2936824" y="1844225"/>
            <a:ext cx="9525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Lucida Sans Unicode"/>
                <a:cs typeface="Lucida Sans Unicode"/>
              </a:rPr>
              <a:t> 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247218" y="2476469"/>
            <a:ext cx="4114165" cy="7632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730"/>
              </a:lnSpc>
              <a:spcBef>
                <a:spcPts val="95"/>
              </a:spcBef>
              <a:tabLst>
                <a:tab pos="1421130" algn="l"/>
              </a:tabLst>
            </a:pPr>
            <a:r>
              <a:rPr dirty="0" baseline="6172" sz="1350" i="1">
                <a:latin typeface="Arial"/>
                <a:cs typeface="Arial"/>
              </a:rPr>
              <a:t>λ</a:t>
            </a:r>
            <a:r>
              <a:rPr dirty="0" baseline="50925" sz="900">
                <a:latin typeface="Tahoma"/>
                <a:cs typeface="Tahoma"/>
              </a:rPr>
              <a:t>(1)</a:t>
            </a:r>
            <a:r>
              <a:rPr dirty="0" baseline="50925" sz="900" spc="277">
                <a:latin typeface="Tahoma"/>
                <a:cs typeface="Tahoma"/>
              </a:rPr>
              <a:t> </a:t>
            </a:r>
            <a:r>
              <a:rPr dirty="0" baseline="6172" sz="1350" spc="97">
                <a:latin typeface="Tahoma"/>
                <a:cs typeface="Tahoma"/>
              </a:rPr>
              <a:t>=</a:t>
            </a:r>
            <a:r>
              <a:rPr dirty="0" baseline="6172" sz="1350" spc="52">
                <a:latin typeface="Tahoma"/>
                <a:cs typeface="Tahoma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−</a:t>
            </a:r>
            <a:r>
              <a:rPr dirty="0" baseline="6172" sz="1350">
                <a:latin typeface="Tahoma"/>
                <a:cs typeface="Tahoma"/>
              </a:rPr>
              <a:t>1</a:t>
            </a:r>
            <a:r>
              <a:rPr dirty="0" baseline="6172" sz="1350" i="1">
                <a:latin typeface="Arial"/>
                <a:cs typeface="Arial"/>
              </a:rPr>
              <a:t>.</a:t>
            </a:r>
            <a:r>
              <a:rPr dirty="0" baseline="6172" sz="1350">
                <a:latin typeface="Tahoma"/>
                <a:cs typeface="Tahoma"/>
              </a:rPr>
              <a:t>93</a:t>
            </a:r>
            <a:r>
              <a:rPr dirty="0" baseline="6172" sz="1350" spc="-135">
                <a:latin typeface="Tahoma"/>
                <a:cs typeface="Tahoma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T</a:t>
            </a:r>
            <a:r>
              <a:rPr dirty="0" sz="600" i="1">
                <a:latin typeface="Trebuchet MS"/>
                <a:cs typeface="Trebuchet MS"/>
              </a:rPr>
              <a:t>v</a:t>
            </a:r>
            <a:r>
              <a:rPr dirty="0" sz="600" spc="200" i="1">
                <a:latin typeface="Trebuchet MS"/>
                <a:cs typeface="Trebuchet MS"/>
              </a:rPr>
              <a:t> </a:t>
            </a:r>
            <a:r>
              <a:rPr dirty="0" baseline="6172" sz="1350" spc="97">
                <a:latin typeface="Tahoma"/>
                <a:cs typeface="Tahoma"/>
              </a:rPr>
              <a:t>+</a:t>
            </a:r>
            <a:r>
              <a:rPr dirty="0" baseline="6172" sz="1350" spc="-44">
                <a:latin typeface="Tahoma"/>
                <a:cs typeface="Tahoma"/>
              </a:rPr>
              <a:t> </a:t>
            </a:r>
            <a:r>
              <a:rPr dirty="0" baseline="6172" sz="1350" spc="-30">
                <a:latin typeface="Tahoma"/>
                <a:cs typeface="Tahoma"/>
              </a:rPr>
              <a:t>0</a:t>
            </a:r>
            <a:r>
              <a:rPr dirty="0" baseline="6172" sz="1350" spc="-30" i="1">
                <a:latin typeface="Arial"/>
                <a:cs typeface="Arial"/>
              </a:rPr>
              <a:t>.</a:t>
            </a:r>
            <a:r>
              <a:rPr dirty="0" baseline="6172" sz="1350" spc="-30">
                <a:latin typeface="Tahoma"/>
                <a:cs typeface="Tahoma"/>
              </a:rPr>
              <a:t>95</a:t>
            </a:r>
            <a:r>
              <a:rPr dirty="0" baseline="6172" sz="1350" spc="-30" i="1">
                <a:latin typeface="Arial"/>
                <a:cs typeface="Arial"/>
              </a:rPr>
              <a:t>,</a:t>
            </a:r>
            <a:r>
              <a:rPr dirty="0" baseline="6172" sz="1350" i="1">
                <a:latin typeface="Arial"/>
                <a:cs typeface="Arial"/>
              </a:rPr>
              <a:t>	λ</a:t>
            </a:r>
            <a:r>
              <a:rPr dirty="0" baseline="50925" sz="900">
                <a:latin typeface="Tahoma"/>
                <a:cs typeface="Tahoma"/>
              </a:rPr>
              <a:t>(2)</a:t>
            </a:r>
            <a:r>
              <a:rPr dirty="0" baseline="50925" sz="900" spc="217">
                <a:latin typeface="Tahoma"/>
                <a:cs typeface="Tahoma"/>
              </a:rPr>
              <a:t> </a:t>
            </a:r>
            <a:r>
              <a:rPr dirty="0" baseline="6172" sz="1350" spc="97">
                <a:latin typeface="Tahoma"/>
                <a:cs typeface="Tahoma"/>
              </a:rPr>
              <a:t>=</a:t>
            </a:r>
            <a:r>
              <a:rPr dirty="0" baseline="6172" sz="1350">
                <a:latin typeface="Tahoma"/>
                <a:cs typeface="Tahoma"/>
              </a:rPr>
              <a:t> </a:t>
            </a:r>
            <a:r>
              <a:rPr dirty="0" baseline="6172" sz="1350" spc="-44">
                <a:latin typeface="Tahoma"/>
                <a:cs typeface="Tahoma"/>
              </a:rPr>
              <a:t>5</a:t>
            </a:r>
            <a:r>
              <a:rPr dirty="0" baseline="6172" sz="1350" spc="-44" i="1">
                <a:latin typeface="Arial"/>
                <a:cs typeface="Arial"/>
              </a:rPr>
              <a:t>.</a:t>
            </a:r>
            <a:r>
              <a:rPr dirty="0" baseline="6172" sz="1350" spc="-44">
                <a:latin typeface="Tahoma"/>
                <a:cs typeface="Tahoma"/>
              </a:rPr>
              <a:t>83</a:t>
            </a:r>
            <a:r>
              <a:rPr dirty="0" baseline="6172" sz="1350" spc="-172">
                <a:latin typeface="Tahoma"/>
                <a:cs typeface="Tahoma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F</a:t>
            </a:r>
            <a:r>
              <a:rPr dirty="0" sz="600" i="1">
                <a:latin typeface="Trebuchet MS"/>
                <a:cs typeface="Trebuchet MS"/>
              </a:rPr>
              <a:t>a</a:t>
            </a:r>
            <a:r>
              <a:rPr dirty="0" sz="600" spc="105" i="1">
                <a:latin typeface="Trebuchet MS"/>
                <a:cs typeface="Trebuchet MS"/>
              </a:rPr>
              <a:t> </a:t>
            </a:r>
            <a:r>
              <a:rPr dirty="0" baseline="6172" sz="1350" spc="97">
                <a:latin typeface="Tahoma"/>
                <a:cs typeface="Tahoma"/>
              </a:rPr>
              <a:t>+</a:t>
            </a:r>
            <a:r>
              <a:rPr dirty="0" baseline="6172" sz="1350" spc="-89">
                <a:latin typeface="Tahoma"/>
                <a:cs typeface="Tahoma"/>
              </a:rPr>
              <a:t> </a:t>
            </a:r>
            <a:r>
              <a:rPr dirty="0" baseline="6172" sz="1350" spc="-30">
                <a:latin typeface="Tahoma"/>
                <a:cs typeface="Tahoma"/>
              </a:rPr>
              <a:t>4</a:t>
            </a:r>
            <a:r>
              <a:rPr dirty="0" baseline="6172" sz="1350" spc="-30" i="1">
                <a:latin typeface="Arial"/>
                <a:cs typeface="Arial"/>
              </a:rPr>
              <a:t>.</a:t>
            </a:r>
            <a:r>
              <a:rPr dirty="0" baseline="6172" sz="1350" spc="-30">
                <a:latin typeface="Tahoma"/>
                <a:cs typeface="Tahoma"/>
              </a:rPr>
              <a:t>88</a:t>
            </a:r>
            <a:endParaRPr baseline="6172" sz="1350">
              <a:latin typeface="Tahoma"/>
              <a:cs typeface="Tahoma"/>
            </a:endParaRPr>
          </a:p>
          <a:p>
            <a:pPr marL="901700">
              <a:lnSpc>
                <a:spcPts val="370"/>
              </a:lnSpc>
              <a:tabLst>
                <a:tab pos="2322830" algn="l"/>
              </a:tabLst>
            </a:pPr>
            <a:r>
              <a:rPr dirty="0" sz="600" spc="-50" i="1">
                <a:latin typeface="Trebuchet MS"/>
                <a:cs typeface="Trebuchet MS"/>
              </a:rPr>
              <a:t>t</a:t>
            </a:r>
            <a:r>
              <a:rPr dirty="0" sz="600" i="1">
                <a:latin typeface="Trebuchet MS"/>
                <a:cs typeface="Trebuchet MS"/>
              </a:rPr>
              <a:t>	</a:t>
            </a:r>
            <a:r>
              <a:rPr dirty="0" sz="600" spc="-50" i="1">
                <a:latin typeface="Trebuchet MS"/>
                <a:cs typeface="Trebuchet MS"/>
              </a:rPr>
              <a:t>t</a:t>
            </a:r>
            <a:endParaRPr sz="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600">
              <a:latin typeface="Trebuchet MS"/>
              <a:cs typeface="Trebuchet MS"/>
            </a:endParaRPr>
          </a:p>
          <a:p>
            <a:pPr algn="ctr" marL="50800" marR="43180">
              <a:lnSpc>
                <a:spcPct val="106100"/>
              </a:lnSpc>
            </a:pPr>
            <a:r>
              <a:rPr dirty="0" baseline="6172" sz="1350" spc="-37" i="1">
                <a:latin typeface="Arial"/>
                <a:cs typeface="Arial"/>
              </a:rPr>
              <a:t>PAPS</a:t>
            </a:r>
            <a:r>
              <a:rPr dirty="0" baseline="6172" sz="1350" spc="22" i="1">
                <a:latin typeface="Arial"/>
                <a:cs typeface="Arial"/>
              </a:rPr>
              <a:t> </a:t>
            </a:r>
            <a:r>
              <a:rPr dirty="0" baseline="6172" sz="1350" spc="-30" i="1">
                <a:latin typeface="Arial"/>
                <a:cs typeface="Arial"/>
              </a:rPr>
              <a:t>predicts</a:t>
            </a:r>
            <a:r>
              <a:rPr dirty="0" baseline="6172" sz="1350" spc="22" i="1">
                <a:latin typeface="Arial"/>
                <a:cs typeface="Arial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the</a:t>
            </a:r>
            <a:r>
              <a:rPr dirty="0" baseline="6172" sz="1350" spc="22" i="1">
                <a:latin typeface="Arial"/>
                <a:cs typeface="Arial"/>
              </a:rPr>
              <a:t> </a:t>
            </a:r>
            <a:r>
              <a:rPr dirty="0" baseline="6172" sz="1350" spc="-89" i="1">
                <a:latin typeface="Arial"/>
                <a:cs typeface="Arial"/>
              </a:rPr>
              <a:t>same</a:t>
            </a:r>
            <a:r>
              <a:rPr dirty="0" baseline="6172" sz="1350" spc="22" i="1">
                <a:latin typeface="Arial"/>
                <a:cs typeface="Arial"/>
              </a:rPr>
              <a:t> </a:t>
            </a:r>
            <a:r>
              <a:rPr dirty="0" baseline="6172" sz="1350" spc="-15" i="1">
                <a:latin typeface="Arial"/>
                <a:cs typeface="Arial"/>
              </a:rPr>
              <a:t>smoothing</a:t>
            </a:r>
            <a:r>
              <a:rPr dirty="0" baseline="6172" sz="1350" spc="22" i="1">
                <a:latin typeface="Arial"/>
                <a:cs typeface="Arial"/>
              </a:rPr>
              <a:t> </a:t>
            </a:r>
            <a:r>
              <a:rPr dirty="0" baseline="6172" sz="1350" spc="-15" i="1">
                <a:latin typeface="Arial"/>
                <a:cs typeface="Arial"/>
              </a:rPr>
              <a:t>weight</a:t>
            </a:r>
            <a:r>
              <a:rPr dirty="0" baseline="6172" sz="1350" spc="22" i="1">
                <a:latin typeface="Arial"/>
                <a:cs typeface="Arial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λ</a:t>
            </a:r>
            <a:r>
              <a:rPr dirty="0" sz="600" i="1">
                <a:latin typeface="Trebuchet MS"/>
                <a:cs typeface="Trebuchet MS"/>
              </a:rPr>
              <a:t>t</a:t>
            </a:r>
            <a:r>
              <a:rPr dirty="0" sz="600" spc="155" i="1">
                <a:latin typeface="Trebuchet MS"/>
                <a:cs typeface="Trebuchet MS"/>
              </a:rPr>
              <a:t> </a:t>
            </a:r>
            <a:r>
              <a:rPr dirty="0" baseline="6172" sz="1350" spc="-82" i="1">
                <a:latin typeface="Arial"/>
                <a:cs typeface="Arial"/>
              </a:rPr>
              <a:t>used</a:t>
            </a:r>
            <a:r>
              <a:rPr dirty="0" baseline="6172" sz="1350" spc="22" i="1">
                <a:latin typeface="Arial"/>
                <a:cs typeface="Arial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in</a:t>
            </a:r>
            <a:r>
              <a:rPr dirty="0" baseline="6172" sz="1350" spc="22" i="1">
                <a:latin typeface="Arial"/>
                <a:cs typeface="Arial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the</a:t>
            </a:r>
            <a:r>
              <a:rPr dirty="0" baseline="6172" sz="1350" spc="112" i="1">
                <a:latin typeface="Arial"/>
                <a:cs typeface="Arial"/>
              </a:rPr>
              <a:t> </a:t>
            </a:r>
            <a:r>
              <a:rPr dirty="0" baseline="6172" sz="1350" spc="-44" i="1">
                <a:latin typeface="Arial"/>
                <a:cs typeface="Arial"/>
              </a:rPr>
              <a:t>SteadyFlow</a:t>
            </a:r>
            <a:r>
              <a:rPr dirty="0" baseline="6172" sz="1350" spc="22" i="1">
                <a:latin typeface="Arial"/>
                <a:cs typeface="Arial"/>
              </a:rPr>
              <a:t> </a:t>
            </a:r>
            <a:r>
              <a:rPr dirty="0" baseline="6172" sz="1350" spc="-60" i="1">
                <a:latin typeface="Arial"/>
                <a:cs typeface="Arial"/>
              </a:rPr>
              <a:t>energy,</a:t>
            </a:r>
            <a:r>
              <a:rPr dirty="0" baseline="6172" sz="1350" spc="22" i="1">
                <a:latin typeface="Arial"/>
                <a:cs typeface="Arial"/>
              </a:rPr>
              <a:t> </a:t>
            </a:r>
            <a:r>
              <a:rPr dirty="0" baseline="6172" sz="1350" spc="-37" i="1">
                <a:latin typeface="Arial"/>
                <a:cs typeface="Arial"/>
              </a:rPr>
              <a:t>but estimates</a:t>
            </a:r>
            <a:r>
              <a:rPr dirty="0" baseline="6172" sz="1350" spc="37" i="1">
                <a:latin typeface="Arial"/>
                <a:cs typeface="Arial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it</a:t>
            </a:r>
            <a:r>
              <a:rPr dirty="0" baseline="6172" sz="1350" spc="52" i="1">
                <a:latin typeface="Arial"/>
                <a:cs typeface="Arial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directly</a:t>
            </a:r>
            <a:r>
              <a:rPr dirty="0" baseline="6172" sz="1350" spc="60" i="1">
                <a:latin typeface="Arial"/>
                <a:cs typeface="Arial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from</a:t>
            </a:r>
            <a:r>
              <a:rPr dirty="0" baseline="6172" sz="1350" spc="52" i="1">
                <a:latin typeface="Arial"/>
                <a:cs typeface="Arial"/>
              </a:rPr>
              <a:t> </a:t>
            </a:r>
            <a:r>
              <a:rPr dirty="0" baseline="6172" sz="1350" spc="-15" i="1">
                <a:latin typeface="Arial"/>
                <a:cs typeface="Arial"/>
              </a:rPr>
              <a:t>translation</a:t>
            </a:r>
            <a:r>
              <a:rPr dirty="0" baseline="6172" sz="1350" spc="75" i="1">
                <a:latin typeface="Arial"/>
                <a:cs typeface="Arial"/>
              </a:rPr>
              <a:t> </a:t>
            </a:r>
            <a:r>
              <a:rPr dirty="0" baseline="6172" sz="1350" spc="-30" i="1">
                <a:latin typeface="Arial"/>
                <a:cs typeface="Arial"/>
              </a:rPr>
              <a:t>magnitude</a:t>
            </a:r>
            <a:r>
              <a:rPr dirty="0" baseline="6172" sz="1350" spc="52" i="1">
                <a:latin typeface="Arial"/>
                <a:cs typeface="Arial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(T</a:t>
            </a:r>
            <a:r>
              <a:rPr dirty="0" sz="600" i="1">
                <a:latin typeface="Trebuchet MS"/>
                <a:cs typeface="Trebuchet MS"/>
              </a:rPr>
              <a:t>v</a:t>
            </a:r>
            <a:r>
              <a:rPr dirty="0" sz="600" spc="-70" i="1">
                <a:latin typeface="Trebuchet MS"/>
                <a:cs typeface="Trebuchet MS"/>
              </a:rPr>
              <a:t> </a:t>
            </a:r>
            <a:r>
              <a:rPr dirty="0" baseline="6172" sz="1350" spc="82" i="1">
                <a:latin typeface="Arial"/>
                <a:cs typeface="Arial"/>
              </a:rPr>
              <a:t>)</a:t>
            </a:r>
            <a:r>
              <a:rPr dirty="0" baseline="6172" sz="1350" spc="52" i="1">
                <a:latin typeface="Arial"/>
                <a:cs typeface="Arial"/>
              </a:rPr>
              <a:t> </a:t>
            </a:r>
            <a:r>
              <a:rPr dirty="0" baseline="6172" sz="1350" spc="-15" i="1">
                <a:latin typeface="Arial"/>
                <a:cs typeface="Arial"/>
              </a:rPr>
              <a:t>and</a:t>
            </a:r>
            <a:r>
              <a:rPr dirty="0" baseline="6172" sz="1350" spc="52" i="1">
                <a:latin typeface="Arial"/>
                <a:cs typeface="Arial"/>
              </a:rPr>
              <a:t> </a:t>
            </a:r>
            <a:r>
              <a:rPr dirty="0" baseline="6172" sz="1350" spc="-15" i="1">
                <a:latin typeface="Arial"/>
                <a:cs typeface="Arial"/>
              </a:rPr>
              <a:t>affine</a:t>
            </a:r>
            <a:r>
              <a:rPr dirty="0" baseline="6172" sz="1350" spc="52" i="1">
                <a:latin typeface="Arial"/>
                <a:cs typeface="Arial"/>
              </a:rPr>
              <a:t> </a:t>
            </a:r>
            <a:r>
              <a:rPr dirty="0" baseline="6172" sz="1350" spc="-15" i="1">
                <a:latin typeface="Arial"/>
                <a:cs typeface="Arial"/>
              </a:rPr>
              <a:t>deformation</a:t>
            </a:r>
            <a:r>
              <a:rPr dirty="0" baseline="6172" sz="1350" spc="60" i="1">
                <a:latin typeface="Arial"/>
                <a:cs typeface="Arial"/>
              </a:rPr>
              <a:t> </a:t>
            </a:r>
            <a:r>
              <a:rPr dirty="0" baseline="6172" sz="1350" spc="-15" i="1">
                <a:latin typeface="Arial"/>
                <a:cs typeface="Arial"/>
              </a:rPr>
              <a:t>(F</a:t>
            </a:r>
            <a:r>
              <a:rPr dirty="0" sz="600" spc="-10" i="1">
                <a:latin typeface="Trebuchet MS"/>
                <a:cs typeface="Trebuchet MS"/>
              </a:rPr>
              <a:t>a</a:t>
            </a:r>
            <a:r>
              <a:rPr dirty="0" baseline="6172" sz="1350" spc="-15" i="1">
                <a:latin typeface="Arial"/>
                <a:cs typeface="Arial"/>
              </a:rPr>
              <a:t>), </a:t>
            </a:r>
            <a:r>
              <a:rPr dirty="0" sz="900" spc="-20" i="1">
                <a:latin typeface="Arial"/>
                <a:cs typeface="Arial"/>
              </a:rPr>
              <a:t>instead</a:t>
            </a:r>
            <a:r>
              <a:rPr dirty="0" sz="900" spc="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of</a:t>
            </a:r>
            <a:r>
              <a:rPr dirty="0" sz="900" spc="165" i="1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performing</a:t>
            </a:r>
            <a:r>
              <a:rPr dirty="0" sz="900" spc="10" i="1">
                <a:latin typeface="Arial"/>
                <a:cs typeface="Arial"/>
              </a:rPr>
              <a:t> </a:t>
            </a:r>
            <a:r>
              <a:rPr dirty="0" sz="900" spc="-30" i="1">
                <a:latin typeface="Arial"/>
                <a:cs typeface="Arial"/>
              </a:rPr>
              <a:t>SteadyFlow’s</a:t>
            </a:r>
            <a:r>
              <a:rPr dirty="0" sz="900" spc="5" i="1">
                <a:latin typeface="Arial"/>
                <a:cs typeface="Arial"/>
              </a:rPr>
              <a:t> </a:t>
            </a:r>
            <a:r>
              <a:rPr dirty="0" sz="900" spc="-25" i="1">
                <a:latin typeface="Arial"/>
                <a:cs typeface="Arial"/>
              </a:rPr>
              <a:t>slow</a:t>
            </a:r>
            <a:r>
              <a:rPr dirty="0" sz="900" spc="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iterative</a:t>
            </a:r>
            <a:r>
              <a:rPr dirty="0" sz="900" spc="5" i="1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search.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40" name="object 40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44" name="object 44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5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5" name="object 4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49034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 spc="-10"/>
              <a:t>BasicFlow?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579285"/>
            <a:ext cx="59601" cy="5960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41477" y="502201"/>
            <a:ext cx="4048125" cy="2682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dirty="0" sz="1000" spc="-40" b="1">
                <a:latin typeface="Arial"/>
                <a:cs typeface="Arial"/>
              </a:rPr>
              <a:t>BasicFlow</a:t>
            </a:r>
            <a:r>
              <a:rPr dirty="0" sz="1000" spc="1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is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lightweight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stabilization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pipeline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we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developed</a:t>
            </a:r>
            <a:r>
              <a:rPr dirty="0" sz="1000" spc="-10">
                <a:latin typeface="Tahoma"/>
                <a:cs typeface="Tahoma"/>
              </a:rPr>
              <a:t>, </a:t>
            </a:r>
            <a:r>
              <a:rPr dirty="0" sz="1000" spc="-25">
                <a:latin typeface="Tahoma"/>
                <a:cs typeface="Tahoma"/>
              </a:rPr>
              <a:t>combining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ideas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30">
                <a:latin typeface="Tahoma"/>
                <a:cs typeface="Tahoma"/>
              </a:rPr>
              <a:t> SteadyFlow and </a:t>
            </a:r>
            <a:r>
              <a:rPr dirty="0" sz="1000" spc="-20">
                <a:latin typeface="Tahoma"/>
                <a:cs typeface="Tahoma"/>
              </a:rPr>
              <a:t>MeshFlow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with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modern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deep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optical flow.</a:t>
            </a:r>
            <a:endParaRPr sz="1000">
              <a:latin typeface="Tahoma"/>
              <a:cs typeface="Tahoma"/>
            </a:endParaRPr>
          </a:p>
          <a:p>
            <a:pPr marL="38100" marR="37465">
              <a:lnSpc>
                <a:spcPct val="100000"/>
              </a:lnSpc>
              <a:spcBef>
                <a:spcPts val="585"/>
              </a:spcBef>
            </a:pPr>
            <a:r>
              <a:rPr dirty="0" sz="1000" spc="-40">
                <a:latin typeface="Tahoma"/>
                <a:cs typeface="Tahoma"/>
              </a:rPr>
              <a:t>Uses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b="1">
                <a:latin typeface="Arial"/>
                <a:cs typeface="Arial"/>
              </a:rPr>
              <a:t>RAFT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(Recurrent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All-</a:t>
            </a:r>
            <a:r>
              <a:rPr dirty="0" sz="1000" spc="-30" b="1">
                <a:latin typeface="Arial"/>
                <a:cs typeface="Arial"/>
              </a:rPr>
              <a:t>Pairs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Field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Transforms)</a:t>
            </a:r>
            <a:r>
              <a:rPr dirty="0" sz="1000" spc="10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obtain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dense, </a:t>
            </a:r>
            <a:r>
              <a:rPr dirty="0" sz="1000" spc="-35">
                <a:latin typeface="Tahoma"/>
                <a:cs typeface="Tahoma"/>
              </a:rPr>
              <a:t>accurate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optical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flow.</a:t>
            </a:r>
            <a:r>
              <a:rPr dirty="0" sz="1000" spc="80">
                <a:latin typeface="Tahoma"/>
                <a:cs typeface="Tahoma"/>
              </a:rPr>
              <a:t> </a:t>
            </a:r>
            <a:r>
              <a:rPr dirty="0" sz="1000" spc="50">
                <a:latin typeface="Tahoma"/>
                <a:cs typeface="Tahoma"/>
              </a:rPr>
              <a:t>RAFT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performs</a:t>
            </a:r>
            <a:r>
              <a:rPr dirty="0" sz="1000" spc="-20">
                <a:latin typeface="Tahoma"/>
                <a:cs typeface="Tahoma"/>
              </a:rPr>
              <a:t> iterative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refinement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over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all-</a:t>
            </a:r>
            <a:r>
              <a:rPr dirty="0" sz="1000" spc="-10">
                <a:latin typeface="Tahoma"/>
                <a:cs typeface="Tahoma"/>
              </a:rPr>
              <a:t>pairs </a:t>
            </a:r>
            <a:r>
              <a:rPr dirty="0" sz="1000" spc="-25">
                <a:latin typeface="Tahoma"/>
                <a:cs typeface="Tahoma"/>
              </a:rPr>
              <a:t>correlation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volume,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giving </a:t>
            </a:r>
            <a:r>
              <a:rPr dirty="0" sz="1000" spc="-40">
                <a:latin typeface="Tahoma"/>
                <a:cs typeface="Tahoma"/>
              </a:rPr>
              <a:t>very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reliable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flow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even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low-</a:t>
            </a:r>
            <a:r>
              <a:rPr dirty="0" sz="1000" spc="-30">
                <a:latin typeface="Tahoma"/>
                <a:cs typeface="Tahoma"/>
              </a:rPr>
              <a:t>texture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complex regions.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ts val="1200"/>
              </a:lnSpc>
              <a:spcBef>
                <a:spcPts val="580"/>
              </a:spcBef>
            </a:pPr>
            <a:r>
              <a:rPr dirty="0" sz="1000" spc="-45">
                <a:latin typeface="Tahoma"/>
                <a:cs typeface="Tahoma"/>
              </a:rPr>
              <a:t>Instead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SteadyFlow’s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heavy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discontinuity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analysis,</a:t>
            </a:r>
            <a:r>
              <a:rPr dirty="0" sz="1000" spc="-10">
                <a:latin typeface="Tahoma"/>
                <a:cs typeface="Tahoma"/>
              </a:rPr>
              <a:t> BasicFlow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applies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a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ts val="1200"/>
              </a:lnSpc>
            </a:pPr>
            <a:r>
              <a:rPr dirty="0" sz="1000" spc="-40" b="1">
                <a:latin typeface="Arial"/>
                <a:cs typeface="Arial"/>
              </a:rPr>
              <a:t>simple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spatial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gradient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spc="-45" b="1">
                <a:latin typeface="Arial"/>
                <a:cs typeface="Arial"/>
              </a:rPr>
              <a:t>mask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5">
                <a:latin typeface="Tahoma"/>
                <a:cs typeface="Tahoma"/>
              </a:rPr>
              <a:t> detect </a:t>
            </a:r>
            <a:r>
              <a:rPr dirty="0" sz="1000" spc="-35">
                <a:latin typeface="Tahoma"/>
                <a:cs typeface="Tahoma"/>
              </a:rPr>
              <a:t>unreliable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flow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areas.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ts val="1200"/>
              </a:lnSpc>
              <a:spcBef>
                <a:spcPts val="590"/>
              </a:spcBef>
            </a:pPr>
            <a:r>
              <a:rPr dirty="0" sz="1000" spc="-35">
                <a:latin typeface="Tahoma"/>
                <a:cs typeface="Tahoma"/>
              </a:rPr>
              <a:t>Replaces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SteadyFlow’s</a:t>
            </a:r>
            <a:r>
              <a:rPr dirty="0" sz="1000">
                <a:latin typeface="Tahoma"/>
                <a:cs typeface="Tahoma"/>
              </a:rPr>
              <a:t> ASAP </a:t>
            </a:r>
            <a:r>
              <a:rPr dirty="0" sz="1000" spc="-20">
                <a:latin typeface="Tahoma"/>
                <a:cs typeface="Tahoma"/>
              </a:rPr>
              <a:t>motion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completion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with </a:t>
            </a:r>
            <a:r>
              <a:rPr dirty="0" sz="1000" b="1">
                <a:latin typeface="Arial"/>
                <a:cs typeface="Arial"/>
              </a:rPr>
              <a:t>iterative</a:t>
            </a:r>
            <a:r>
              <a:rPr dirty="0" sz="1000" spc="7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diffusion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ts val="1200"/>
              </a:lnSpc>
            </a:pPr>
            <a:r>
              <a:rPr dirty="0" sz="1000" spc="-30">
                <a:latin typeface="Tahoma"/>
                <a:cs typeface="Tahoma"/>
              </a:rPr>
              <a:t>(selective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blurring)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smooth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fill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discontinuities.</a:t>
            </a:r>
            <a:endParaRPr sz="1000">
              <a:latin typeface="Tahoma"/>
              <a:cs typeface="Tahoma"/>
            </a:endParaRPr>
          </a:p>
          <a:p>
            <a:pPr marL="38100" marR="125095">
              <a:lnSpc>
                <a:spcPct val="100000"/>
              </a:lnSpc>
              <a:spcBef>
                <a:spcPts val="595"/>
              </a:spcBef>
            </a:pPr>
            <a:r>
              <a:rPr dirty="0" sz="1000" spc="-40">
                <a:latin typeface="Tahoma"/>
                <a:cs typeface="Tahoma"/>
              </a:rPr>
              <a:t>Uses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MeshFlow’s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b="1">
                <a:latin typeface="Arial"/>
                <a:cs typeface="Arial"/>
              </a:rPr>
              <a:t>PAPS</a:t>
            </a:r>
            <a:r>
              <a:rPr dirty="0" sz="1000" spc="10" b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(Predicted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Adaptive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Path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Smoothing)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30">
                <a:latin typeface="Tahoma"/>
                <a:cs typeface="Tahoma"/>
              </a:rPr>
              <a:t> choose smoothing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strength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i="1">
                <a:latin typeface="Calibri"/>
                <a:cs typeface="Calibri"/>
              </a:rPr>
              <a:t>λ</a:t>
            </a:r>
            <a:r>
              <a:rPr dirty="0" baseline="-11904" sz="1050" i="1">
                <a:latin typeface="Trebuchet MS"/>
                <a:cs typeface="Trebuchet MS"/>
              </a:rPr>
              <a:t>t</a:t>
            </a:r>
            <a:r>
              <a:rPr dirty="0" baseline="-11904" sz="1050" spc="307" i="1">
                <a:latin typeface="Trebuchet MS"/>
                <a:cs typeface="Trebuchet MS"/>
              </a:rPr>
              <a:t> </a:t>
            </a:r>
            <a:r>
              <a:rPr dirty="0" sz="1000" spc="-20">
                <a:latin typeface="Tahoma"/>
                <a:cs typeface="Tahoma"/>
              </a:rPr>
              <a:t>without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iterative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search.</a:t>
            </a:r>
            <a:endParaRPr sz="1000">
              <a:latin typeface="Tahoma"/>
              <a:cs typeface="Tahoma"/>
            </a:endParaRPr>
          </a:p>
          <a:p>
            <a:pPr marL="38100" marR="79375">
              <a:lnSpc>
                <a:spcPct val="100000"/>
              </a:lnSpc>
              <a:spcBef>
                <a:spcPts val="590"/>
              </a:spcBef>
            </a:pPr>
            <a:r>
              <a:rPr dirty="0" sz="1000" spc="-25">
                <a:latin typeface="Tahoma"/>
                <a:cs typeface="Tahoma"/>
              </a:rPr>
              <a:t>Produces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final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stabilization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by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 b="1">
                <a:latin typeface="Arial"/>
                <a:cs typeface="Arial"/>
              </a:rPr>
              <a:t>smoothing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per-</a:t>
            </a:r>
            <a:r>
              <a:rPr dirty="0" sz="1000" spc="-10" b="1">
                <a:latin typeface="Arial"/>
                <a:cs typeface="Arial"/>
              </a:rPr>
              <a:t>pixel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motion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profiles</a:t>
            </a:r>
            <a:r>
              <a:rPr dirty="0" sz="1000" spc="-30">
                <a:latin typeface="Tahoma"/>
                <a:cs typeface="Tahoma"/>
              </a:rPr>
              <a:t>, </a:t>
            </a:r>
            <a:r>
              <a:rPr dirty="0" sz="1000" spc="-25">
                <a:latin typeface="Tahoma"/>
                <a:cs typeface="Tahoma"/>
              </a:rPr>
              <a:t>similar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spirit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SteadyFlow </a:t>
            </a:r>
            <a:r>
              <a:rPr dirty="0" sz="1000">
                <a:latin typeface="Tahoma"/>
                <a:cs typeface="Tahoma"/>
              </a:rPr>
              <a:t>but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far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more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efficient.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110691"/>
            <a:ext cx="59601" cy="596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793938"/>
            <a:ext cx="59601" cy="5960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2173516"/>
            <a:ext cx="59601" cy="5960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05" y="2553093"/>
            <a:ext cx="59601" cy="5960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6705" y="2932658"/>
            <a:ext cx="59601" cy="59601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1" name="object 11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8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48272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BasicFlow:</a:t>
            </a:r>
            <a:r>
              <a:rPr dirty="0" spc="45"/>
              <a:t> </a:t>
            </a:r>
            <a:r>
              <a:rPr dirty="0" spc="-10"/>
              <a:t>Pipeline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610641"/>
            <a:ext cx="59601" cy="5960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990219"/>
            <a:ext cx="59601" cy="5960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369796"/>
            <a:ext cx="59601" cy="596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1749374"/>
            <a:ext cx="59601" cy="5960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05" y="2128952"/>
            <a:ext cx="59601" cy="5960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6705" y="2508516"/>
            <a:ext cx="59601" cy="5960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6705" y="2888094"/>
            <a:ext cx="59601" cy="5960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03377" y="546196"/>
            <a:ext cx="4226560" cy="257873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76200" marR="230504">
              <a:lnSpc>
                <a:spcPct val="101499"/>
              </a:lnSpc>
              <a:spcBef>
                <a:spcPts val="80"/>
              </a:spcBef>
            </a:pPr>
            <a:r>
              <a:rPr dirty="0" sz="900" spc="-30" b="1">
                <a:latin typeface="Arial"/>
                <a:cs typeface="Arial"/>
              </a:rPr>
              <a:t>Dense</a:t>
            </a:r>
            <a:r>
              <a:rPr dirty="0" sz="900" spc="4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Optical</a:t>
            </a:r>
            <a:r>
              <a:rPr dirty="0" sz="900" spc="5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Flow</a:t>
            </a:r>
            <a:r>
              <a:rPr dirty="0" sz="900" spc="5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(RAFT)</a:t>
            </a:r>
            <a:r>
              <a:rPr dirty="0" sz="900" spc="30" b="1">
                <a:latin typeface="Arial"/>
                <a:cs typeface="Arial"/>
              </a:rPr>
              <a:t> </a:t>
            </a:r>
            <a:r>
              <a:rPr dirty="0" sz="900" spc="-10">
                <a:latin typeface="Tahoma"/>
                <a:cs typeface="Tahoma"/>
              </a:rPr>
              <a:t>Compute</a:t>
            </a:r>
            <a:r>
              <a:rPr dirty="0" sz="90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high-</a:t>
            </a:r>
            <a:r>
              <a:rPr dirty="0" sz="900">
                <a:latin typeface="Tahoma"/>
                <a:cs typeface="Tahoma"/>
              </a:rPr>
              <a:t>quality </a:t>
            </a:r>
            <a:r>
              <a:rPr dirty="0" sz="900" spc="-35">
                <a:latin typeface="Tahoma"/>
                <a:cs typeface="Tahoma"/>
              </a:rPr>
              <a:t>dense</a:t>
            </a:r>
            <a:r>
              <a:rPr dirty="0" sz="900">
                <a:latin typeface="Tahoma"/>
                <a:cs typeface="Tahoma"/>
              </a:rPr>
              <a:t> optical flow </a:t>
            </a:r>
            <a:r>
              <a:rPr dirty="0" sz="900" spc="-30">
                <a:latin typeface="Tahoma"/>
                <a:cs typeface="Tahoma"/>
              </a:rPr>
              <a:t>between </a:t>
            </a:r>
            <a:r>
              <a:rPr dirty="0" sz="900" spc="-25">
                <a:latin typeface="Tahoma"/>
                <a:cs typeface="Tahoma"/>
              </a:rPr>
              <a:t>consecutive</a:t>
            </a:r>
            <a:r>
              <a:rPr dirty="0" sz="90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frames</a:t>
            </a:r>
            <a:r>
              <a:rPr dirty="0" sz="90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using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 spc="60">
                <a:latin typeface="Tahoma"/>
                <a:cs typeface="Tahoma"/>
              </a:rPr>
              <a:t>RAFT</a:t>
            </a:r>
            <a:r>
              <a:rPr dirty="0" sz="900">
                <a:latin typeface="Tahoma"/>
                <a:cs typeface="Tahoma"/>
              </a:rPr>
              <a:t> with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padding</a:t>
            </a:r>
            <a:r>
              <a:rPr dirty="0" sz="900">
                <a:latin typeface="Tahoma"/>
                <a:cs typeface="Tahoma"/>
              </a:rPr>
              <a:t> </a:t>
            </a:r>
            <a:r>
              <a:rPr dirty="0" sz="900" spc="65">
                <a:latin typeface="Tahoma"/>
                <a:cs typeface="Tahoma"/>
              </a:rPr>
              <a:t>+</a:t>
            </a:r>
            <a:r>
              <a:rPr dirty="0" sz="90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cropping.</a:t>
            </a:r>
            <a:endParaRPr sz="900">
              <a:latin typeface="Tahoma"/>
              <a:cs typeface="Tahoma"/>
            </a:endParaRPr>
          </a:p>
          <a:p>
            <a:pPr marL="76200" marR="183515">
              <a:lnSpc>
                <a:spcPct val="101499"/>
              </a:lnSpc>
              <a:spcBef>
                <a:spcPts val="795"/>
              </a:spcBef>
            </a:pPr>
            <a:r>
              <a:rPr dirty="0" sz="900" spc="-30" b="1">
                <a:latin typeface="Arial"/>
                <a:cs typeface="Arial"/>
              </a:rPr>
              <a:t>Discontinuity</a:t>
            </a:r>
            <a:r>
              <a:rPr dirty="0" sz="900" spc="3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Detection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spc="-10">
                <a:latin typeface="Tahoma"/>
                <a:cs typeface="Tahoma"/>
              </a:rPr>
              <a:t>Compute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Sobel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gradients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of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flow.</a:t>
            </a:r>
            <a:r>
              <a:rPr dirty="0" sz="900" spc="7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Mark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pixels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with large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gradient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magnitude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as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unreliable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(spatial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mask).</a:t>
            </a:r>
            <a:endParaRPr sz="900">
              <a:latin typeface="Tahoma"/>
              <a:cs typeface="Tahoma"/>
            </a:endParaRPr>
          </a:p>
          <a:p>
            <a:pPr marL="76200" marR="43180">
              <a:lnSpc>
                <a:spcPct val="101499"/>
              </a:lnSpc>
              <a:spcBef>
                <a:spcPts val="795"/>
              </a:spcBef>
            </a:pPr>
            <a:r>
              <a:rPr dirty="0" sz="900" b="1">
                <a:latin typeface="Arial"/>
                <a:cs typeface="Arial"/>
              </a:rPr>
              <a:t>Motion</a:t>
            </a:r>
            <a:r>
              <a:rPr dirty="0" sz="900" spc="30" b="1">
                <a:latin typeface="Arial"/>
                <a:cs typeface="Arial"/>
              </a:rPr>
              <a:t> </a:t>
            </a:r>
            <a:r>
              <a:rPr dirty="0" sz="900" spc="-30" b="1">
                <a:latin typeface="Arial"/>
                <a:cs typeface="Arial"/>
              </a:rPr>
              <a:t>Completion</a:t>
            </a:r>
            <a:r>
              <a:rPr dirty="0" sz="900" spc="3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via</a:t>
            </a:r>
            <a:r>
              <a:rPr dirty="0" sz="900" spc="30" b="1">
                <a:latin typeface="Arial"/>
                <a:cs typeface="Arial"/>
              </a:rPr>
              <a:t> </a:t>
            </a:r>
            <a:r>
              <a:rPr dirty="0" sz="900" spc="-30" b="1">
                <a:latin typeface="Arial"/>
                <a:cs typeface="Arial"/>
              </a:rPr>
              <a:t>Diffusion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>
                <a:latin typeface="Tahoma"/>
                <a:cs typeface="Tahoma"/>
              </a:rPr>
              <a:t>Run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several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iterations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of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selective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blurring.</a:t>
            </a:r>
            <a:r>
              <a:rPr dirty="0" sz="900" spc="7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Only </a:t>
            </a:r>
            <a:r>
              <a:rPr dirty="0" sz="900" spc="-10">
                <a:latin typeface="Tahoma"/>
                <a:cs typeface="Tahoma"/>
              </a:rPr>
              <a:t>update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pixels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inside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discontinuity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mask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65">
                <a:latin typeface="Lucida Sans Unicode"/>
                <a:cs typeface="Lucida Sans Unicode"/>
              </a:rPr>
              <a:t>→</a:t>
            </a:r>
            <a:r>
              <a:rPr dirty="0" sz="900" spc="-30">
                <a:latin typeface="Lucida Sans Unicode"/>
                <a:cs typeface="Lucida Sans Unicode"/>
              </a:rPr>
              <a:t> </a:t>
            </a:r>
            <a:r>
              <a:rPr dirty="0" sz="900" spc="-10">
                <a:latin typeface="Tahoma"/>
                <a:cs typeface="Tahoma"/>
              </a:rPr>
              <a:t>smooth,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hole-</a:t>
            </a:r>
            <a:r>
              <a:rPr dirty="0" sz="900" spc="-20">
                <a:latin typeface="Tahoma"/>
                <a:cs typeface="Tahoma"/>
              </a:rPr>
              <a:t>free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flow.</a:t>
            </a:r>
            <a:endParaRPr sz="900">
              <a:latin typeface="Tahoma"/>
              <a:cs typeface="Tahoma"/>
            </a:endParaRPr>
          </a:p>
          <a:p>
            <a:pPr marL="76200" marR="212725">
              <a:lnSpc>
                <a:spcPct val="101499"/>
              </a:lnSpc>
              <a:spcBef>
                <a:spcPts val="800"/>
              </a:spcBef>
            </a:pPr>
            <a:r>
              <a:rPr dirty="0" sz="900" spc="-10" b="1">
                <a:latin typeface="Arial"/>
                <a:cs typeface="Arial"/>
              </a:rPr>
              <a:t>Pixel</a:t>
            </a:r>
            <a:r>
              <a:rPr dirty="0" sz="900" spc="2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Profile</a:t>
            </a:r>
            <a:r>
              <a:rPr dirty="0" sz="900" spc="30" b="1">
                <a:latin typeface="Arial"/>
                <a:cs typeface="Arial"/>
              </a:rPr>
              <a:t> </a:t>
            </a:r>
            <a:r>
              <a:rPr dirty="0" sz="900" spc="-30" b="1">
                <a:latin typeface="Arial"/>
                <a:cs typeface="Arial"/>
              </a:rPr>
              <a:t>Construction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>
                <a:latin typeface="Tahoma"/>
                <a:cs typeface="Tahoma"/>
              </a:rPr>
              <a:t>Accumulate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cleaned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flows over </a:t>
            </a:r>
            <a:r>
              <a:rPr dirty="0" sz="900">
                <a:latin typeface="Tahoma"/>
                <a:cs typeface="Tahoma"/>
              </a:rPr>
              <a:t>time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build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motion </a:t>
            </a:r>
            <a:r>
              <a:rPr dirty="0" sz="900" spc="-20">
                <a:latin typeface="Tahoma"/>
                <a:cs typeface="Tahoma"/>
              </a:rPr>
              <a:t>profiles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65" i="1">
                <a:latin typeface="Arial"/>
                <a:cs typeface="Arial"/>
              </a:rPr>
              <a:t>C</a:t>
            </a:r>
            <a:r>
              <a:rPr dirty="0" sz="900" spc="-145" i="1">
                <a:latin typeface="Arial"/>
                <a:cs typeface="Arial"/>
              </a:rPr>
              <a:t> </a:t>
            </a:r>
            <a:r>
              <a:rPr dirty="0" sz="900" spc="50">
                <a:latin typeface="Tahoma"/>
                <a:cs typeface="Tahoma"/>
              </a:rPr>
              <a:t>(</a:t>
            </a:r>
            <a:r>
              <a:rPr dirty="0" sz="900" spc="50" i="1">
                <a:latin typeface="Arial"/>
                <a:cs typeface="Arial"/>
              </a:rPr>
              <a:t>t</a:t>
            </a:r>
            <a:r>
              <a:rPr dirty="0" sz="900" spc="50">
                <a:latin typeface="Tahoma"/>
                <a:cs typeface="Tahoma"/>
              </a:rPr>
              <a:t>)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for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every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pixel.</a:t>
            </a:r>
            <a:endParaRPr sz="900">
              <a:latin typeface="Tahoma"/>
              <a:cs typeface="Tahoma"/>
            </a:endParaRPr>
          </a:p>
          <a:p>
            <a:pPr marL="76200" marR="90170">
              <a:lnSpc>
                <a:spcPct val="110700"/>
              </a:lnSpc>
              <a:spcBef>
                <a:spcPts val="695"/>
              </a:spcBef>
            </a:pPr>
            <a:r>
              <a:rPr dirty="0" sz="900" spc="-45" b="1">
                <a:latin typeface="Arial"/>
                <a:cs typeface="Arial"/>
              </a:rPr>
              <a:t>Homography-</a:t>
            </a:r>
            <a:r>
              <a:rPr dirty="0" sz="900" spc="-25" b="1">
                <a:latin typeface="Arial"/>
                <a:cs typeface="Arial"/>
              </a:rPr>
              <a:t>Based</a:t>
            </a:r>
            <a:r>
              <a:rPr dirty="0" sz="900" spc="4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Weight</a:t>
            </a:r>
            <a:r>
              <a:rPr dirty="0" sz="900" spc="45" b="1">
                <a:latin typeface="Arial"/>
                <a:cs typeface="Arial"/>
              </a:rPr>
              <a:t> </a:t>
            </a:r>
            <a:r>
              <a:rPr dirty="0" sz="900" spc="-20" b="1">
                <a:latin typeface="Arial"/>
                <a:cs typeface="Arial"/>
              </a:rPr>
              <a:t>Estimation</a:t>
            </a:r>
            <a:r>
              <a:rPr dirty="0" sz="900" spc="25" b="1">
                <a:latin typeface="Arial"/>
                <a:cs typeface="Arial"/>
              </a:rPr>
              <a:t> </a:t>
            </a:r>
            <a:r>
              <a:rPr dirty="0" sz="900" spc="-10">
                <a:latin typeface="Tahoma"/>
                <a:cs typeface="Tahoma"/>
              </a:rPr>
              <a:t>Compute </a:t>
            </a:r>
            <a:r>
              <a:rPr dirty="0" sz="900" spc="-25">
                <a:latin typeface="Tahoma"/>
                <a:cs typeface="Tahoma"/>
              </a:rPr>
              <a:t>homographies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between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frames. </a:t>
            </a:r>
            <a:r>
              <a:rPr dirty="0" baseline="6172" sz="1350" spc="-15">
                <a:latin typeface="Tahoma"/>
                <a:cs typeface="Tahoma"/>
              </a:rPr>
              <a:t>Derive smoothing </a:t>
            </a:r>
            <a:r>
              <a:rPr dirty="0" baseline="6172" sz="1350" spc="-37">
                <a:latin typeface="Tahoma"/>
                <a:cs typeface="Tahoma"/>
              </a:rPr>
              <a:t>weights</a:t>
            </a:r>
            <a:r>
              <a:rPr dirty="0" baseline="6172" sz="1350" spc="-15">
                <a:latin typeface="Tahoma"/>
                <a:cs typeface="Tahoma"/>
              </a:rPr>
              <a:t> </a:t>
            </a:r>
            <a:r>
              <a:rPr dirty="0" baseline="6172" sz="1350" i="1">
                <a:latin typeface="Arial"/>
                <a:cs typeface="Arial"/>
              </a:rPr>
              <a:t>λ</a:t>
            </a:r>
            <a:r>
              <a:rPr dirty="0" sz="600" i="1">
                <a:latin typeface="Trebuchet MS"/>
                <a:cs typeface="Trebuchet MS"/>
              </a:rPr>
              <a:t>t</a:t>
            </a:r>
            <a:r>
              <a:rPr dirty="0" sz="600" spc="170" i="1">
                <a:latin typeface="Trebuchet MS"/>
                <a:cs typeface="Trebuchet MS"/>
              </a:rPr>
              <a:t> </a:t>
            </a:r>
            <a:r>
              <a:rPr dirty="0" baseline="6172" sz="1350">
                <a:latin typeface="Tahoma"/>
                <a:cs typeface="Tahoma"/>
              </a:rPr>
              <a:t>from</a:t>
            </a:r>
            <a:r>
              <a:rPr dirty="0" baseline="6172" sz="1350" spc="-15">
                <a:latin typeface="Tahoma"/>
                <a:cs typeface="Tahoma"/>
              </a:rPr>
              <a:t> translation</a:t>
            </a:r>
            <a:r>
              <a:rPr dirty="0" baseline="6172" sz="1350" spc="-7">
                <a:latin typeface="Tahoma"/>
                <a:cs typeface="Tahoma"/>
              </a:rPr>
              <a:t> </a:t>
            </a:r>
            <a:r>
              <a:rPr dirty="0" baseline="6172" sz="1350">
                <a:latin typeface="Tahoma"/>
                <a:cs typeface="Tahoma"/>
              </a:rPr>
              <a:t>and</a:t>
            </a:r>
            <a:r>
              <a:rPr dirty="0" baseline="6172" sz="1350" spc="-15">
                <a:latin typeface="Tahoma"/>
                <a:cs typeface="Tahoma"/>
              </a:rPr>
              <a:t> </a:t>
            </a:r>
            <a:r>
              <a:rPr dirty="0" baseline="6172" sz="1350" spc="-30">
                <a:latin typeface="Tahoma"/>
                <a:cs typeface="Tahoma"/>
              </a:rPr>
              <a:t>affine</a:t>
            </a:r>
            <a:r>
              <a:rPr dirty="0" baseline="6172" sz="1350" spc="-15">
                <a:latin typeface="Tahoma"/>
                <a:cs typeface="Tahoma"/>
              </a:rPr>
              <a:t> components.</a:t>
            </a:r>
            <a:endParaRPr baseline="6172" sz="1350">
              <a:latin typeface="Tahoma"/>
              <a:cs typeface="Tahoma"/>
            </a:endParaRPr>
          </a:p>
          <a:p>
            <a:pPr marL="76200" marR="427355">
              <a:lnSpc>
                <a:spcPct val="101499"/>
              </a:lnSpc>
              <a:spcBef>
                <a:spcPts val="700"/>
              </a:spcBef>
            </a:pPr>
            <a:r>
              <a:rPr dirty="0" sz="900" spc="-10" b="1">
                <a:latin typeface="Arial"/>
                <a:cs typeface="Arial"/>
              </a:rPr>
              <a:t>Pixel</a:t>
            </a:r>
            <a:r>
              <a:rPr dirty="0" sz="900" spc="3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Profile</a:t>
            </a:r>
            <a:r>
              <a:rPr dirty="0" sz="900" spc="35" b="1">
                <a:latin typeface="Arial"/>
                <a:cs typeface="Arial"/>
              </a:rPr>
              <a:t> </a:t>
            </a:r>
            <a:r>
              <a:rPr dirty="0" sz="900" spc="-30" b="1">
                <a:latin typeface="Arial"/>
                <a:cs typeface="Arial"/>
              </a:rPr>
              <a:t>Smoothing</a:t>
            </a:r>
            <a:r>
              <a:rPr dirty="0" sz="900" spc="35" b="1">
                <a:latin typeface="Arial"/>
                <a:cs typeface="Arial"/>
              </a:rPr>
              <a:t> </a:t>
            </a:r>
            <a:r>
              <a:rPr dirty="0" sz="900" spc="-20" b="1">
                <a:latin typeface="Arial"/>
                <a:cs typeface="Arial"/>
              </a:rPr>
              <a:t>(Jacobi</a:t>
            </a:r>
            <a:r>
              <a:rPr dirty="0" sz="900" spc="4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Iteration)</a:t>
            </a:r>
            <a:r>
              <a:rPr dirty="0" sz="900" spc="20" b="1">
                <a:latin typeface="Arial"/>
                <a:cs typeface="Arial"/>
              </a:rPr>
              <a:t> </a:t>
            </a:r>
            <a:r>
              <a:rPr dirty="0" sz="900" spc="-20">
                <a:latin typeface="Tahoma"/>
                <a:cs typeface="Tahoma"/>
              </a:rPr>
              <a:t>Iteratively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smooth </a:t>
            </a:r>
            <a:r>
              <a:rPr dirty="0" sz="900" spc="-20">
                <a:latin typeface="Tahoma"/>
                <a:cs typeface="Tahoma"/>
              </a:rPr>
              <a:t>each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pixel’s temporal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motion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profile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obtain</a:t>
            </a:r>
            <a:r>
              <a:rPr dirty="0" sz="900" spc="-10">
                <a:latin typeface="Tahoma"/>
                <a:cs typeface="Tahoma"/>
              </a:rPr>
              <a:t> stabilized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motion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trajectories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 i="1">
                <a:latin typeface="Arial"/>
                <a:cs typeface="Arial"/>
              </a:rPr>
              <a:t>P</a:t>
            </a:r>
            <a:r>
              <a:rPr dirty="0" sz="900" spc="-10">
                <a:latin typeface="Tahoma"/>
                <a:cs typeface="Tahoma"/>
              </a:rPr>
              <a:t>(</a:t>
            </a:r>
            <a:r>
              <a:rPr dirty="0" sz="900" spc="-10" i="1">
                <a:latin typeface="Arial"/>
                <a:cs typeface="Arial"/>
              </a:rPr>
              <a:t>t</a:t>
            </a:r>
            <a:r>
              <a:rPr dirty="0" sz="900" spc="-10">
                <a:latin typeface="Tahoma"/>
                <a:cs typeface="Tahoma"/>
              </a:rPr>
              <a:t>).</a:t>
            </a:r>
            <a:endParaRPr sz="900">
              <a:latin typeface="Tahoma"/>
              <a:cs typeface="Tahoma"/>
            </a:endParaRPr>
          </a:p>
          <a:p>
            <a:pPr marL="76200" marR="194945">
              <a:lnSpc>
                <a:spcPct val="101499"/>
              </a:lnSpc>
              <a:spcBef>
                <a:spcPts val="795"/>
              </a:spcBef>
            </a:pPr>
            <a:r>
              <a:rPr dirty="0" sz="900" spc="-20" b="1">
                <a:latin typeface="Arial"/>
                <a:cs typeface="Arial"/>
              </a:rPr>
              <a:t>Frame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 spc="-20" b="1">
                <a:latin typeface="Arial"/>
                <a:cs typeface="Arial"/>
              </a:rPr>
              <a:t>Warping</a:t>
            </a:r>
            <a:r>
              <a:rPr dirty="0" sz="900" spc="3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and</a:t>
            </a:r>
            <a:r>
              <a:rPr dirty="0" sz="900" spc="4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Output</a:t>
            </a:r>
            <a:r>
              <a:rPr dirty="0" sz="900" spc="20" b="1">
                <a:latin typeface="Arial"/>
                <a:cs typeface="Arial"/>
              </a:rPr>
              <a:t> </a:t>
            </a:r>
            <a:r>
              <a:rPr dirty="0" sz="900" spc="-10">
                <a:latin typeface="Tahoma"/>
                <a:cs typeface="Tahoma"/>
              </a:rPr>
              <a:t>Compute </a:t>
            </a:r>
            <a:r>
              <a:rPr dirty="0" sz="900" spc="-25">
                <a:latin typeface="Tahoma"/>
                <a:cs typeface="Tahoma"/>
              </a:rPr>
              <a:t>warp</a:t>
            </a:r>
            <a:r>
              <a:rPr dirty="0" sz="900" spc="-10">
                <a:latin typeface="Tahoma"/>
                <a:cs typeface="Tahoma"/>
              </a:rPr>
              <a:t> fields </a:t>
            </a:r>
            <a:r>
              <a:rPr dirty="0" sz="900">
                <a:latin typeface="Tahoma"/>
                <a:cs typeface="Tahoma"/>
              </a:rPr>
              <a:t>from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50" i="1">
                <a:latin typeface="Arial"/>
                <a:cs typeface="Arial"/>
              </a:rPr>
              <a:t>P</a:t>
            </a:r>
            <a:r>
              <a:rPr dirty="0" sz="900" spc="50">
                <a:latin typeface="Tahoma"/>
                <a:cs typeface="Tahoma"/>
              </a:rPr>
              <a:t>(</a:t>
            </a:r>
            <a:r>
              <a:rPr dirty="0" sz="900" spc="50" i="1">
                <a:latin typeface="Arial"/>
                <a:cs typeface="Arial"/>
              </a:rPr>
              <a:t>t</a:t>
            </a:r>
            <a:r>
              <a:rPr dirty="0" sz="900" spc="50">
                <a:latin typeface="Tahoma"/>
                <a:cs typeface="Tahoma"/>
              </a:rPr>
              <a:t>)</a:t>
            </a:r>
            <a:r>
              <a:rPr dirty="0" sz="900" spc="-80">
                <a:latin typeface="Tahoma"/>
                <a:cs typeface="Tahoma"/>
              </a:rPr>
              <a:t> </a:t>
            </a:r>
            <a:r>
              <a:rPr dirty="0" sz="900" spc="185" i="1">
                <a:latin typeface="Arial"/>
                <a:cs typeface="Arial"/>
              </a:rPr>
              <a:t>−</a:t>
            </a:r>
            <a:r>
              <a:rPr dirty="0" sz="900" spc="-60" i="1">
                <a:latin typeface="Arial"/>
                <a:cs typeface="Arial"/>
              </a:rPr>
              <a:t> </a:t>
            </a:r>
            <a:r>
              <a:rPr dirty="0" sz="900" spc="-65" i="1">
                <a:latin typeface="Arial"/>
                <a:cs typeface="Arial"/>
              </a:rPr>
              <a:t>C</a:t>
            </a:r>
            <a:r>
              <a:rPr dirty="0" sz="900" spc="-145" i="1">
                <a:latin typeface="Arial"/>
                <a:cs typeface="Arial"/>
              </a:rPr>
              <a:t> </a:t>
            </a:r>
            <a:r>
              <a:rPr dirty="0" sz="900">
                <a:latin typeface="Tahoma"/>
                <a:cs typeface="Tahoma"/>
              </a:rPr>
              <a:t>(</a:t>
            </a:r>
            <a:r>
              <a:rPr dirty="0" sz="900" i="1">
                <a:latin typeface="Arial"/>
                <a:cs typeface="Arial"/>
              </a:rPr>
              <a:t>t</a:t>
            </a:r>
            <a:r>
              <a:rPr dirty="0" sz="900">
                <a:latin typeface="Tahoma"/>
                <a:cs typeface="Tahoma"/>
              </a:rPr>
              <a:t>),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warp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each frame,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crop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borders, </a:t>
            </a:r>
            <a:r>
              <a:rPr dirty="0" sz="900">
                <a:latin typeface="Tahoma"/>
                <a:cs typeface="Tahoma"/>
              </a:rPr>
              <a:t>and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write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stabilized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video.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2" name="object 12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9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12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85623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BasicFlow:</a:t>
            </a:r>
            <a:r>
              <a:rPr dirty="0" spc="55"/>
              <a:t> </a:t>
            </a:r>
            <a:r>
              <a:rPr dirty="0" spc="-30"/>
              <a:t>Deviations</a:t>
            </a:r>
            <a:r>
              <a:rPr dirty="0" spc="-65"/>
              <a:t> </a:t>
            </a:r>
            <a:r>
              <a:rPr dirty="0" spc="-20"/>
              <a:t>from</a:t>
            </a:r>
            <a:r>
              <a:rPr dirty="0" spc="-65"/>
              <a:t> </a:t>
            </a:r>
            <a:r>
              <a:rPr dirty="0" spc="-10"/>
              <a:t>Literature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858634"/>
            <a:ext cx="59601" cy="5960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238212"/>
            <a:ext cx="59601" cy="5960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1756956"/>
            <a:ext cx="59601" cy="596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5" y="2136533"/>
            <a:ext cx="59601" cy="5960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05" y="2516111"/>
            <a:ext cx="59601" cy="59601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76200" marR="43180">
              <a:lnSpc>
                <a:spcPct val="101499"/>
              </a:lnSpc>
              <a:spcBef>
                <a:spcPts val="80"/>
              </a:spcBef>
            </a:pPr>
            <a:r>
              <a:rPr dirty="0" sz="900" b="1">
                <a:latin typeface="Arial"/>
                <a:cs typeface="Arial"/>
              </a:rPr>
              <a:t>No</a:t>
            </a:r>
            <a:r>
              <a:rPr dirty="0" sz="900" spc="20" b="1">
                <a:latin typeface="Arial"/>
                <a:cs typeface="Arial"/>
              </a:rPr>
              <a:t> </a:t>
            </a:r>
            <a:r>
              <a:rPr dirty="0" sz="900" spc="-20" b="1">
                <a:latin typeface="Arial"/>
                <a:cs typeface="Arial"/>
              </a:rPr>
              <a:t>temporal</a:t>
            </a:r>
            <a:r>
              <a:rPr dirty="0" sz="900" spc="2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outlier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spc="-20" b="1">
                <a:latin typeface="Arial"/>
                <a:cs typeface="Arial"/>
              </a:rPr>
              <a:t>detection</a:t>
            </a:r>
            <a:r>
              <a:rPr dirty="0" sz="900" spc="5" b="1">
                <a:latin typeface="Arial"/>
                <a:cs typeface="Arial"/>
              </a:rPr>
              <a:t> </a:t>
            </a:r>
            <a:r>
              <a:rPr dirty="0" sz="900" spc="-10"/>
              <a:t>SteadyFlow</a:t>
            </a:r>
            <a:r>
              <a:rPr dirty="0" sz="900" spc="-25"/>
              <a:t> </a:t>
            </a:r>
            <a:r>
              <a:rPr dirty="0" sz="900" spc="-40"/>
              <a:t>uses</a:t>
            </a:r>
            <a:r>
              <a:rPr dirty="0" sz="900" spc="-30"/>
              <a:t> </a:t>
            </a:r>
            <a:r>
              <a:rPr dirty="0" sz="900"/>
              <a:t>spatial</a:t>
            </a:r>
            <a:r>
              <a:rPr dirty="0" sz="900" spc="-30"/>
              <a:t> </a:t>
            </a:r>
            <a:r>
              <a:rPr dirty="0" sz="900" i="1">
                <a:latin typeface="Arial"/>
                <a:cs typeface="Arial"/>
              </a:rPr>
              <a:t>and</a:t>
            </a:r>
            <a:r>
              <a:rPr dirty="0" sz="900" spc="75" i="1">
                <a:latin typeface="Arial"/>
                <a:cs typeface="Arial"/>
              </a:rPr>
              <a:t> </a:t>
            </a:r>
            <a:r>
              <a:rPr dirty="0" sz="900" spc="-10"/>
              <a:t>temporal</a:t>
            </a:r>
            <a:r>
              <a:rPr dirty="0" sz="900" spc="-25"/>
              <a:t> </a:t>
            </a:r>
            <a:r>
              <a:rPr dirty="0" sz="900" spc="-10"/>
              <a:t>discontinuity </a:t>
            </a:r>
            <a:r>
              <a:rPr dirty="0" sz="900" spc="-25"/>
              <a:t>checks;</a:t>
            </a:r>
            <a:r>
              <a:rPr dirty="0" sz="900" spc="-20"/>
              <a:t> </a:t>
            </a:r>
            <a:r>
              <a:rPr dirty="0" sz="900"/>
              <a:t>BasicFlow</a:t>
            </a:r>
            <a:r>
              <a:rPr dirty="0" sz="900" spc="-20"/>
              <a:t> </a:t>
            </a:r>
            <a:r>
              <a:rPr dirty="0" sz="900" spc="-40"/>
              <a:t>uses</a:t>
            </a:r>
            <a:r>
              <a:rPr dirty="0" sz="900" spc="-15"/>
              <a:t> </a:t>
            </a:r>
            <a:r>
              <a:rPr dirty="0" sz="900"/>
              <a:t>only</a:t>
            </a:r>
            <a:r>
              <a:rPr dirty="0" sz="900" spc="-20"/>
              <a:t> </a:t>
            </a:r>
            <a:r>
              <a:rPr dirty="0" sz="900"/>
              <a:t>a</a:t>
            </a:r>
            <a:r>
              <a:rPr dirty="0" sz="900" spc="-15"/>
              <a:t> </a:t>
            </a:r>
            <a:r>
              <a:rPr dirty="0" sz="900" spc="-50"/>
              <a:t>one-</a:t>
            </a:r>
            <a:r>
              <a:rPr dirty="0" sz="900" spc="-25"/>
              <a:t>pass</a:t>
            </a:r>
            <a:r>
              <a:rPr dirty="0" sz="900" spc="-20"/>
              <a:t> </a:t>
            </a:r>
            <a:r>
              <a:rPr dirty="0" sz="900"/>
              <a:t>spatial</a:t>
            </a:r>
            <a:r>
              <a:rPr dirty="0" sz="900" spc="-15"/>
              <a:t> </a:t>
            </a:r>
            <a:r>
              <a:rPr dirty="0" sz="900" spc="-10"/>
              <a:t>gradient</a:t>
            </a:r>
            <a:r>
              <a:rPr dirty="0" sz="900" spc="-20"/>
              <a:t> </a:t>
            </a:r>
            <a:r>
              <a:rPr dirty="0" sz="900" spc="-10"/>
              <a:t>threshold.</a:t>
            </a:r>
            <a:endParaRPr sz="900">
              <a:latin typeface="Arial"/>
              <a:cs typeface="Arial"/>
            </a:endParaRPr>
          </a:p>
          <a:p>
            <a:pPr marL="76200" marR="77470">
              <a:lnSpc>
                <a:spcPct val="101499"/>
              </a:lnSpc>
              <a:spcBef>
                <a:spcPts val="795"/>
              </a:spcBef>
            </a:pPr>
            <a:r>
              <a:rPr dirty="0" sz="900" b="1">
                <a:latin typeface="Arial"/>
                <a:cs typeface="Arial"/>
              </a:rPr>
              <a:t>No</a:t>
            </a:r>
            <a:r>
              <a:rPr dirty="0" sz="900" spc="3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ASAP</a:t>
            </a:r>
            <a:r>
              <a:rPr dirty="0" sz="900" spc="3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motion</a:t>
            </a:r>
            <a:r>
              <a:rPr dirty="0" sz="900" spc="35" b="1">
                <a:latin typeface="Arial"/>
                <a:cs typeface="Arial"/>
              </a:rPr>
              <a:t> </a:t>
            </a:r>
            <a:r>
              <a:rPr dirty="0" sz="900" spc="-30" b="1">
                <a:latin typeface="Arial"/>
                <a:cs typeface="Arial"/>
              </a:rPr>
              <a:t>completion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spc="-10"/>
              <a:t>SteadyFlow</a:t>
            </a:r>
            <a:r>
              <a:rPr dirty="0" sz="900" spc="-15"/>
              <a:t> </a:t>
            </a:r>
            <a:r>
              <a:rPr dirty="0" sz="900"/>
              <a:t>fills</a:t>
            </a:r>
            <a:r>
              <a:rPr dirty="0" sz="900" spc="-15"/>
              <a:t> </a:t>
            </a:r>
            <a:r>
              <a:rPr dirty="0" sz="900" spc="-20"/>
              <a:t>holes</a:t>
            </a:r>
            <a:r>
              <a:rPr dirty="0" sz="900" spc="-15"/>
              <a:t> </a:t>
            </a:r>
            <a:r>
              <a:rPr dirty="0" sz="900"/>
              <a:t>via</a:t>
            </a:r>
            <a:r>
              <a:rPr dirty="0" sz="900" spc="-15"/>
              <a:t> </a:t>
            </a:r>
            <a:r>
              <a:rPr dirty="0" sz="900"/>
              <a:t>a</a:t>
            </a:r>
            <a:r>
              <a:rPr dirty="0" sz="900" spc="-15"/>
              <a:t> </a:t>
            </a:r>
            <a:r>
              <a:rPr dirty="0" sz="900" spc="-20"/>
              <a:t>large</a:t>
            </a:r>
            <a:r>
              <a:rPr dirty="0" sz="900" spc="-15"/>
              <a:t> </a:t>
            </a:r>
            <a:r>
              <a:rPr dirty="0" sz="900" spc="-45"/>
              <a:t>sparse</a:t>
            </a:r>
            <a:r>
              <a:rPr dirty="0" sz="900" spc="-15"/>
              <a:t> </a:t>
            </a:r>
            <a:r>
              <a:rPr dirty="0" sz="900" spc="-10"/>
              <a:t>linear</a:t>
            </a:r>
            <a:r>
              <a:rPr dirty="0" sz="900" spc="-15"/>
              <a:t> </a:t>
            </a:r>
            <a:r>
              <a:rPr dirty="0" sz="900" spc="-10"/>
              <a:t>solve </a:t>
            </a:r>
            <a:r>
              <a:rPr dirty="0" sz="900"/>
              <a:t>(ASAP</a:t>
            </a:r>
            <a:r>
              <a:rPr dirty="0" sz="900" spc="15"/>
              <a:t> </a:t>
            </a:r>
            <a:r>
              <a:rPr dirty="0" sz="900" spc="-25"/>
              <a:t>warping);</a:t>
            </a:r>
            <a:r>
              <a:rPr dirty="0" sz="900" spc="15"/>
              <a:t> </a:t>
            </a:r>
            <a:r>
              <a:rPr dirty="0" sz="900"/>
              <a:t>BasicFlow</a:t>
            </a:r>
            <a:r>
              <a:rPr dirty="0" sz="900" spc="15"/>
              <a:t> </a:t>
            </a:r>
            <a:r>
              <a:rPr dirty="0" sz="900" spc="-30"/>
              <a:t>replaces</a:t>
            </a:r>
            <a:r>
              <a:rPr dirty="0" sz="900" spc="15"/>
              <a:t> </a:t>
            </a:r>
            <a:r>
              <a:rPr dirty="0" sz="900"/>
              <a:t>this</a:t>
            </a:r>
            <a:r>
              <a:rPr dirty="0" sz="900" spc="15"/>
              <a:t> </a:t>
            </a:r>
            <a:r>
              <a:rPr dirty="0" sz="900"/>
              <a:t>with</a:t>
            </a:r>
            <a:r>
              <a:rPr dirty="0" sz="900" spc="15"/>
              <a:t> </a:t>
            </a:r>
            <a:r>
              <a:rPr dirty="0" sz="900" spc="-10"/>
              <a:t>simple</a:t>
            </a:r>
            <a:r>
              <a:rPr dirty="0" sz="900" spc="15"/>
              <a:t> </a:t>
            </a:r>
            <a:r>
              <a:rPr dirty="0" sz="900" b="1">
                <a:latin typeface="Arial"/>
                <a:cs typeface="Arial"/>
              </a:rPr>
              <a:t>iterative</a:t>
            </a:r>
            <a:r>
              <a:rPr dirty="0" sz="900" spc="65" b="1">
                <a:latin typeface="Arial"/>
                <a:cs typeface="Arial"/>
              </a:rPr>
              <a:t> </a:t>
            </a:r>
            <a:r>
              <a:rPr dirty="0" sz="900" spc="-40" b="1">
                <a:latin typeface="Arial"/>
                <a:cs typeface="Arial"/>
              </a:rPr>
              <a:t>diffusion</a:t>
            </a:r>
            <a:r>
              <a:rPr dirty="0" sz="900" spc="45" b="1">
                <a:latin typeface="Arial"/>
                <a:cs typeface="Arial"/>
              </a:rPr>
              <a:t> </a:t>
            </a:r>
            <a:r>
              <a:rPr dirty="0" sz="900" spc="-10"/>
              <a:t>(selective blurring).</a:t>
            </a:r>
            <a:endParaRPr sz="900">
              <a:latin typeface="Arial"/>
              <a:cs typeface="Arial"/>
            </a:endParaRPr>
          </a:p>
          <a:p>
            <a:pPr marL="76200" marR="130175">
              <a:lnSpc>
                <a:spcPct val="110700"/>
              </a:lnSpc>
              <a:spcBef>
                <a:spcPts val="700"/>
              </a:spcBef>
            </a:pPr>
            <a:r>
              <a:rPr dirty="0" sz="900" spc="-20" b="1">
                <a:latin typeface="Arial"/>
                <a:cs typeface="Arial"/>
              </a:rPr>
              <a:t>Lambda</a:t>
            </a:r>
            <a:r>
              <a:rPr dirty="0" sz="900" spc="45" b="1">
                <a:latin typeface="Arial"/>
                <a:cs typeface="Arial"/>
              </a:rPr>
              <a:t> </a:t>
            </a:r>
            <a:r>
              <a:rPr dirty="0" sz="900" spc="-25" b="1">
                <a:latin typeface="Arial"/>
                <a:cs typeface="Arial"/>
              </a:rPr>
              <a:t>estimation</a:t>
            </a:r>
            <a:r>
              <a:rPr dirty="0" sz="900" spc="4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from</a:t>
            </a:r>
            <a:r>
              <a:rPr dirty="0" sz="900" spc="45" b="1">
                <a:latin typeface="Arial"/>
                <a:cs typeface="Arial"/>
              </a:rPr>
              <a:t> </a:t>
            </a:r>
            <a:r>
              <a:rPr dirty="0" sz="900" spc="-25" b="1">
                <a:latin typeface="Arial"/>
                <a:cs typeface="Arial"/>
              </a:rPr>
              <a:t>MeshFlow</a:t>
            </a:r>
            <a:r>
              <a:rPr dirty="0" sz="900" spc="5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(PAPS)</a:t>
            </a:r>
            <a:r>
              <a:rPr dirty="0" sz="900" spc="25" b="1">
                <a:latin typeface="Arial"/>
                <a:cs typeface="Arial"/>
              </a:rPr>
              <a:t> </a:t>
            </a:r>
            <a:r>
              <a:rPr dirty="0" sz="900" spc="-10"/>
              <a:t>SteadyFlow</a:t>
            </a:r>
            <a:r>
              <a:rPr dirty="0" sz="900"/>
              <a:t> </a:t>
            </a:r>
            <a:r>
              <a:rPr dirty="0" sz="900" spc="-40"/>
              <a:t>searches</a:t>
            </a:r>
            <a:r>
              <a:rPr dirty="0" sz="900"/>
              <a:t> </a:t>
            </a:r>
            <a:r>
              <a:rPr dirty="0" sz="900" spc="-10"/>
              <a:t>iteratively</a:t>
            </a:r>
            <a:r>
              <a:rPr dirty="0" sz="900" spc="-5"/>
              <a:t> </a:t>
            </a:r>
            <a:r>
              <a:rPr dirty="0" sz="900" spc="-25"/>
              <a:t>for </a:t>
            </a:r>
            <a:r>
              <a:rPr dirty="0" baseline="6172" sz="1350"/>
              <a:t>the</a:t>
            </a:r>
            <a:r>
              <a:rPr dirty="0" baseline="6172" sz="1350" spc="-44"/>
              <a:t> </a:t>
            </a:r>
            <a:r>
              <a:rPr dirty="0" baseline="6172" sz="1350"/>
              <a:t>best</a:t>
            </a:r>
            <a:r>
              <a:rPr dirty="0" baseline="6172" sz="1350" spc="-22"/>
              <a:t> </a:t>
            </a:r>
            <a:r>
              <a:rPr dirty="0" baseline="6172" sz="1350" i="1">
                <a:latin typeface="Arial"/>
                <a:cs typeface="Arial"/>
              </a:rPr>
              <a:t>λ</a:t>
            </a:r>
            <a:r>
              <a:rPr dirty="0" sz="600" i="1">
                <a:latin typeface="Trebuchet MS"/>
                <a:cs typeface="Trebuchet MS"/>
              </a:rPr>
              <a:t>t</a:t>
            </a:r>
            <a:r>
              <a:rPr dirty="0" sz="600" spc="-90" i="1">
                <a:latin typeface="Trebuchet MS"/>
                <a:cs typeface="Trebuchet MS"/>
              </a:rPr>
              <a:t> </a:t>
            </a:r>
            <a:r>
              <a:rPr dirty="0" baseline="6172" sz="1350"/>
              <a:t>;</a:t>
            </a:r>
            <a:r>
              <a:rPr dirty="0" baseline="6172" sz="1350" spc="-22"/>
              <a:t> </a:t>
            </a:r>
            <a:r>
              <a:rPr dirty="0" baseline="6172" sz="1350"/>
              <a:t>BasicFlow</a:t>
            </a:r>
            <a:r>
              <a:rPr dirty="0" baseline="6172" sz="1350" spc="-22"/>
              <a:t> </a:t>
            </a:r>
            <a:r>
              <a:rPr dirty="0" baseline="6172" sz="1350"/>
              <a:t>directly</a:t>
            </a:r>
            <a:r>
              <a:rPr dirty="0" baseline="6172" sz="1350" spc="-30"/>
              <a:t> </a:t>
            </a:r>
            <a:r>
              <a:rPr dirty="0" baseline="6172" sz="1350" spc="-15"/>
              <a:t>predicts</a:t>
            </a:r>
            <a:r>
              <a:rPr dirty="0" baseline="6172" sz="1350" spc="-22"/>
              <a:t> </a:t>
            </a:r>
            <a:r>
              <a:rPr dirty="0" baseline="6172" sz="1350"/>
              <a:t>it</a:t>
            </a:r>
            <a:r>
              <a:rPr dirty="0" baseline="6172" sz="1350" spc="-22"/>
              <a:t> </a:t>
            </a:r>
            <a:r>
              <a:rPr dirty="0" baseline="6172" sz="1350" spc="-15"/>
              <a:t>using</a:t>
            </a:r>
            <a:r>
              <a:rPr dirty="0" baseline="6172" sz="1350" spc="-22"/>
              <a:t> </a:t>
            </a:r>
            <a:r>
              <a:rPr dirty="0" baseline="6172" sz="1350"/>
              <a:t>MeshFlow’s</a:t>
            </a:r>
            <a:r>
              <a:rPr dirty="0" baseline="6172" sz="1350" spc="-22"/>
              <a:t> </a:t>
            </a:r>
            <a:r>
              <a:rPr dirty="0" baseline="6172" sz="1350" spc="-44"/>
              <a:t>regression</a:t>
            </a:r>
            <a:r>
              <a:rPr dirty="0" baseline="6172" sz="1350" spc="-30"/>
              <a:t> </a:t>
            </a:r>
            <a:r>
              <a:rPr dirty="0" baseline="6172" sz="1350" spc="-15"/>
              <a:t>model.</a:t>
            </a:r>
            <a:endParaRPr baseline="6172" sz="1350">
              <a:latin typeface="Trebuchet MS"/>
              <a:cs typeface="Trebuchet MS"/>
            </a:endParaRPr>
          </a:p>
          <a:p>
            <a:pPr marL="76200" marR="462915">
              <a:lnSpc>
                <a:spcPct val="101499"/>
              </a:lnSpc>
              <a:spcBef>
                <a:spcPts val="695"/>
              </a:spcBef>
            </a:pPr>
            <a:r>
              <a:rPr dirty="0" sz="900" spc="-30" b="1">
                <a:latin typeface="Arial"/>
                <a:cs typeface="Arial"/>
              </a:rPr>
              <a:t>Dense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spc="-25" b="1">
                <a:latin typeface="Arial"/>
                <a:cs typeface="Arial"/>
              </a:rPr>
              <a:t>deep</a:t>
            </a:r>
            <a:r>
              <a:rPr dirty="0" sz="900" spc="2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flow</a:t>
            </a:r>
            <a:r>
              <a:rPr dirty="0" sz="900" spc="2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from</a:t>
            </a:r>
            <a:r>
              <a:rPr dirty="0" sz="900" spc="2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RAFT</a:t>
            </a:r>
            <a:r>
              <a:rPr dirty="0" sz="900" spc="5" b="1">
                <a:latin typeface="Arial"/>
                <a:cs typeface="Arial"/>
              </a:rPr>
              <a:t> </a:t>
            </a:r>
            <a:r>
              <a:rPr dirty="0" sz="900" spc="-30"/>
              <a:t>Removes</a:t>
            </a:r>
            <a:r>
              <a:rPr dirty="0" sz="900" spc="-25"/>
              <a:t> </a:t>
            </a:r>
            <a:r>
              <a:rPr dirty="0" sz="900" spc="-20"/>
              <a:t>reliance</a:t>
            </a:r>
            <a:r>
              <a:rPr dirty="0" sz="900" spc="-30"/>
              <a:t> </a:t>
            </a:r>
            <a:r>
              <a:rPr dirty="0" sz="900"/>
              <a:t>on</a:t>
            </a:r>
            <a:r>
              <a:rPr dirty="0" sz="900" spc="-30"/>
              <a:t> </a:t>
            </a:r>
            <a:r>
              <a:rPr dirty="0" sz="900" spc="-35"/>
              <a:t>sparse</a:t>
            </a:r>
            <a:r>
              <a:rPr dirty="0" sz="900" spc="-25"/>
              <a:t> </a:t>
            </a:r>
            <a:r>
              <a:rPr dirty="0" sz="900" spc="-20"/>
              <a:t>feature</a:t>
            </a:r>
            <a:r>
              <a:rPr dirty="0" sz="900" spc="-30"/>
              <a:t> </a:t>
            </a:r>
            <a:r>
              <a:rPr dirty="0" sz="900" spc="-10"/>
              <a:t>tracking </a:t>
            </a:r>
            <a:r>
              <a:rPr dirty="0" sz="900"/>
              <a:t>(MeshFlow)</a:t>
            </a:r>
            <a:r>
              <a:rPr dirty="0" sz="900" spc="-40"/>
              <a:t> </a:t>
            </a:r>
            <a:r>
              <a:rPr dirty="0" sz="900"/>
              <a:t>or</a:t>
            </a:r>
            <a:r>
              <a:rPr dirty="0" sz="900" spc="-40"/>
              <a:t> </a:t>
            </a:r>
            <a:r>
              <a:rPr dirty="0" sz="900" spc="-10"/>
              <a:t>classical</a:t>
            </a:r>
            <a:r>
              <a:rPr dirty="0" sz="900" spc="-40"/>
              <a:t> </a:t>
            </a:r>
            <a:r>
              <a:rPr dirty="0" sz="900"/>
              <a:t>flow</a:t>
            </a:r>
            <a:r>
              <a:rPr dirty="0" sz="900" spc="-40"/>
              <a:t> </a:t>
            </a:r>
            <a:r>
              <a:rPr dirty="0" sz="900" spc="-10"/>
              <a:t>(SteadyFlow).</a:t>
            </a:r>
            <a:endParaRPr sz="9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815"/>
              </a:spcBef>
            </a:pPr>
            <a:r>
              <a:rPr dirty="0" sz="900" spc="-25" b="1">
                <a:latin typeface="Arial"/>
                <a:cs typeface="Arial"/>
              </a:rPr>
              <a:t>Simplified,</a:t>
            </a:r>
            <a:r>
              <a:rPr dirty="0" sz="900" spc="35" b="1">
                <a:latin typeface="Arial"/>
                <a:cs typeface="Arial"/>
              </a:rPr>
              <a:t> </a:t>
            </a:r>
            <a:r>
              <a:rPr dirty="0" sz="900" spc="-25" b="1">
                <a:latin typeface="Arial"/>
                <a:cs typeface="Arial"/>
              </a:rPr>
              <a:t>linear</a:t>
            </a:r>
            <a:r>
              <a:rPr dirty="0" sz="900" spc="35" b="1">
                <a:latin typeface="Arial"/>
                <a:cs typeface="Arial"/>
              </a:rPr>
              <a:t> </a:t>
            </a:r>
            <a:r>
              <a:rPr dirty="0" sz="900" spc="-30" b="1">
                <a:latin typeface="Arial"/>
                <a:cs typeface="Arial"/>
              </a:rPr>
              <a:t>pipeline</a:t>
            </a:r>
            <a:r>
              <a:rPr dirty="0" sz="900" spc="20" b="1">
                <a:latin typeface="Arial"/>
                <a:cs typeface="Arial"/>
              </a:rPr>
              <a:t> </a:t>
            </a:r>
            <a:r>
              <a:rPr dirty="0" sz="900"/>
              <a:t>No</a:t>
            </a:r>
            <a:r>
              <a:rPr dirty="0" sz="900" spc="-15"/>
              <a:t> </a:t>
            </a:r>
            <a:r>
              <a:rPr dirty="0" sz="900" spc="-10"/>
              <a:t>iterative </a:t>
            </a:r>
            <a:r>
              <a:rPr dirty="0" sz="900" spc="-25"/>
              <a:t>refinement,</a:t>
            </a:r>
            <a:r>
              <a:rPr dirty="0" sz="900" spc="-15"/>
              <a:t> </a:t>
            </a:r>
            <a:r>
              <a:rPr dirty="0" sz="900"/>
              <a:t>no</a:t>
            </a:r>
            <a:r>
              <a:rPr dirty="0" sz="900" spc="-10"/>
              <a:t> </a:t>
            </a:r>
            <a:r>
              <a:rPr dirty="0" sz="900" spc="-25"/>
              <a:t>heavy</a:t>
            </a:r>
            <a:r>
              <a:rPr dirty="0" sz="900" spc="-15"/>
              <a:t> </a:t>
            </a:r>
            <a:r>
              <a:rPr dirty="0" sz="900"/>
              <a:t>optimization</a:t>
            </a:r>
            <a:r>
              <a:rPr dirty="0" sz="900" spc="-10"/>
              <a:t> </a:t>
            </a:r>
            <a:r>
              <a:rPr dirty="0" sz="900" spc="15">
                <a:latin typeface="Lucida Sans Unicode"/>
                <a:cs typeface="Lucida Sans Unicode"/>
              </a:rPr>
              <a:t>→</a:t>
            </a:r>
            <a:endParaRPr sz="9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spcBef>
                <a:spcPts val="15"/>
              </a:spcBef>
            </a:pPr>
            <a:r>
              <a:rPr dirty="0" sz="900" spc="-10"/>
              <a:t>significantly faster</a:t>
            </a:r>
            <a:r>
              <a:rPr dirty="0" sz="900" spc="-5"/>
              <a:t> </a:t>
            </a:r>
            <a:r>
              <a:rPr dirty="0" sz="900"/>
              <a:t>in</a:t>
            </a:r>
            <a:r>
              <a:rPr dirty="0" sz="900" spc="-5"/>
              <a:t> </a:t>
            </a:r>
            <a:r>
              <a:rPr dirty="0" sz="900" spc="-10"/>
              <a:t>practice.</a:t>
            </a:r>
            <a:endParaRPr sz="900"/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10" name="object 10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7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12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Performance</a:t>
            </a:r>
            <a:r>
              <a:rPr dirty="0" spc="-30"/>
              <a:t> </a:t>
            </a:r>
            <a:r>
              <a:rPr dirty="0" spc="-10"/>
              <a:t>Metrics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3830" y="1071554"/>
            <a:ext cx="4236720" cy="1240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27329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Arial"/>
                <a:cs typeface="Arial"/>
              </a:rPr>
              <a:t>Stability</a:t>
            </a:r>
            <a:r>
              <a:rPr dirty="0" sz="1000" b="1">
                <a:latin typeface="Arial"/>
                <a:cs typeface="Arial"/>
              </a:rPr>
              <a:t> </a:t>
            </a:r>
            <a:r>
              <a:rPr dirty="0" sz="1000" spc="-40" b="1">
                <a:latin typeface="Arial"/>
                <a:cs typeface="Arial"/>
              </a:rPr>
              <a:t>Score</a:t>
            </a:r>
            <a:r>
              <a:rPr dirty="0" sz="1000" b="1">
                <a:latin typeface="Arial"/>
                <a:cs typeface="Arial"/>
              </a:rPr>
              <a:t> </a:t>
            </a:r>
            <a:r>
              <a:rPr dirty="0" sz="1000" spc="-40">
                <a:latin typeface="Tahoma"/>
                <a:cs typeface="Tahoma"/>
              </a:rPr>
              <a:t>Measures </a:t>
            </a:r>
            <a:r>
              <a:rPr dirty="0" sz="1000" spc="-45">
                <a:latin typeface="Tahoma"/>
                <a:cs typeface="Tahoma"/>
              </a:rPr>
              <a:t>how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well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output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video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suppresses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unintended </a:t>
            </a:r>
            <a:r>
              <a:rPr dirty="0" sz="1000" spc="-40">
                <a:latin typeface="Tahoma"/>
                <a:cs typeface="Tahoma"/>
              </a:rPr>
              <a:t>camera </a:t>
            </a:r>
            <a:r>
              <a:rPr dirty="0" sz="1000" spc="-35">
                <a:latin typeface="Tahoma"/>
                <a:cs typeface="Tahoma"/>
              </a:rPr>
              <a:t>shake.</a:t>
            </a:r>
            <a:r>
              <a:rPr dirty="0" sz="1000" spc="6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Higher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values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indicate</a:t>
            </a:r>
            <a:r>
              <a:rPr dirty="0" sz="1000" spc="-35">
                <a:latin typeface="Tahoma"/>
                <a:cs typeface="Tahoma"/>
              </a:rPr>
              <a:t> smoother </a:t>
            </a:r>
            <a:r>
              <a:rPr dirty="0" sz="1000" spc="-20">
                <a:latin typeface="Tahoma"/>
                <a:cs typeface="Tahoma"/>
              </a:rPr>
              <a:t>global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motion.</a:t>
            </a:r>
            <a:endParaRPr sz="1000">
              <a:latin typeface="Tahoma"/>
              <a:cs typeface="Tahoma"/>
            </a:endParaRPr>
          </a:p>
          <a:p>
            <a:pPr marL="12700" marR="307975">
              <a:lnSpc>
                <a:spcPct val="100000"/>
              </a:lnSpc>
              <a:spcBef>
                <a:spcPts val="590"/>
              </a:spcBef>
            </a:pPr>
            <a:r>
              <a:rPr dirty="0" sz="1000" spc="-20" b="1">
                <a:latin typeface="Arial"/>
                <a:cs typeface="Arial"/>
              </a:rPr>
              <a:t>Distortion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spc="-40" b="1">
                <a:latin typeface="Arial"/>
                <a:cs typeface="Arial"/>
              </a:rPr>
              <a:t>Score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Evaluates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geometric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faithfulness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20">
                <a:latin typeface="Tahoma"/>
                <a:cs typeface="Tahoma"/>
              </a:rPr>
              <a:t> the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stabilized </a:t>
            </a:r>
            <a:r>
              <a:rPr dirty="0" sz="1000" spc="-10">
                <a:latin typeface="Tahoma"/>
                <a:cs typeface="Tahoma"/>
              </a:rPr>
              <a:t>video. </a:t>
            </a:r>
            <a:r>
              <a:rPr dirty="0" sz="1000" spc="-30">
                <a:latin typeface="Tahoma"/>
                <a:cs typeface="Tahoma"/>
              </a:rPr>
              <a:t>Penalizes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warping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artifacts, </a:t>
            </a:r>
            <a:r>
              <a:rPr dirty="0" sz="1000">
                <a:latin typeface="Tahoma"/>
                <a:cs typeface="Tahoma"/>
              </a:rPr>
              <a:t>local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stretching,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shape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deformation.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585"/>
              </a:spcBef>
            </a:pPr>
            <a:r>
              <a:rPr dirty="0" sz="1000" spc="-35" b="1">
                <a:latin typeface="Arial"/>
                <a:cs typeface="Arial"/>
              </a:rPr>
              <a:t>Cropping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Ratio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45">
                <a:latin typeface="Tahoma"/>
                <a:cs typeface="Tahoma"/>
              </a:rPr>
              <a:t>Represents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how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much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original</a:t>
            </a:r>
            <a:r>
              <a:rPr dirty="0" sz="1000" spc="-35">
                <a:latin typeface="Tahoma"/>
                <a:cs typeface="Tahoma"/>
              </a:rPr>
              <a:t> frame </a:t>
            </a:r>
            <a:r>
              <a:rPr dirty="0" sz="1000" spc="-25">
                <a:latin typeface="Tahoma"/>
                <a:cs typeface="Tahoma"/>
              </a:rPr>
              <a:t>content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retained </a:t>
            </a:r>
            <a:r>
              <a:rPr dirty="0" sz="1000" spc="-20">
                <a:latin typeface="Tahoma"/>
                <a:cs typeface="Tahoma"/>
              </a:rPr>
              <a:t>after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stabilization.</a:t>
            </a:r>
            <a:r>
              <a:rPr dirty="0" sz="1000" spc="7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Higher ratios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mean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less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cropping</a:t>
            </a:r>
            <a:r>
              <a:rPr dirty="0" sz="1000" spc="-25">
                <a:latin typeface="Tahoma"/>
                <a:cs typeface="Tahoma"/>
              </a:rPr>
              <a:t> and</a:t>
            </a:r>
            <a:r>
              <a:rPr dirty="0" sz="1000" spc="-20">
                <a:latin typeface="Tahoma"/>
                <a:cs typeface="Tahoma"/>
              </a:rPr>
              <a:t> better </a:t>
            </a:r>
            <a:r>
              <a:rPr dirty="0" sz="1000" spc="-35">
                <a:latin typeface="Tahoma"/>
                <a:cs typeface="Tahoma"/>
              </a:rPr>
              <a:t>field-</a:t>
            </a:r>
            <a:r>
              <a:rPr dirty="0" sz="1000" spc="-40">
                <a:latin typeface="Tahoma"/>
                <a:cs typeface="Tahoma"/>
              </a:rPr>
              <a:t>of-</a:t>
            </a:r>
            <a:r>
              <a:rPr dirty="0" sz="1000" spc="-20">
                <a:latin typeface="Tahoma"/>
                <a:cs typeface="Tahoma"/>
              </a:rPr>
              <a:t>view </a:t>
            </a:r>
            <a:r>
              <a:rPr dirty="0" sz="1000" spc="-10">
                <a:latin typeface="Tahoma"/>
                <a:cs typeface="Tahoma"/>
              </a:rPr>
              <a:t>preservation.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5" name="object 5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2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12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Metrics</a:t>
            </a:r>
            <a:r>
              <a:rPr dirty="0" spc="-60"/>
              <a:t> </a:t>
            </a:r>
            <a:r>
              <a:rPr dirty="0" spc="-45"/>
              <a:t>Comparison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503" y="608656"/>
            <a:ext cx="4322107" cy="200041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3830" y="2744719"/>
            <a:ext cx="4149725" cy="44069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dirty="0" sz="900">
                <a:latin typeface="Tahoma"/>
                <a:cs typeface="Tahoma"/>
              </a:rPr>
              <a:t>BasicFlow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achieves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similar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or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better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performance</a:t>
            </a:r>
            <a:r>
              <a:rPr dirty="0" sz="900" spc="-20">
                <a:latin typeface="Tahoma"/>
                <a:cs typeface="Tahoma"/>
              </a:rPr>
              <a:t> across </a:t>
            </a:r>
            <a:r>
              <a:rPr dirty="0" sz="900">
                <a:latin typeface="Tahoma"/>
                <a:cs typeface="Tahoma"/>
              </a:rPr>
              <a:t>most</a:t>
            </a:r>
            <a:r>
              <a:rPr dirty="0" sz="900" spc="-20">
                <a:latin typeface="Tahoma"/>
                <a:cs typeface="Tahoma"/>
              </a:rPr>
              <a:t> videos,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particularly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in </a:t>
            </a:r>
            <a:r>
              <a:rPr dirty="0" sz="900" spc="-40">
                <a:latin typeface="Tahoma"/>
                <a:cs typeface="Tahoma"/>
              </a:rPr>
              <a:t>sequences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involving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large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foreground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motion,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while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maintaining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comparable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stability, </a:t>
            </a:r>
            <a:r>
              <a:rPr dirty="0" sz="900" spc="-25">
                <a:latin typeface="Tahoma"/>
                <a:cs typeface="Tahoma"/>
              </a:rPr>
              <a:t>lower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distortion,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and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strong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cropping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ratios.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6" name="object 6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3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12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9878"/>
            <a:ext cx="1783714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0">
                <a:latin typeface="Tahoma"/>
                <a:cs typeface="Tahoma"/>
              </a:rPr>
              <a:t>Dominating</a:t>
            </a:r>
            <a:r>
              <a:rPr dirty="0" sz="1400" spc="-55">
                <a:latin typeface="Tahoma"/>
                <a:cs typeface="Tahoma"/>
              </a:rPr>
              <a:t> </a:t>
            </a:r>
            <a:r>
              <a:rPr dirty="0" sz="1400" spc="-50">
                <a:latin typeface="Tahoma"/>
                <a:cs typeface="Tahoma"/>
              </a:rPr>
              <a:t>Foreground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830" y="1445788"/>
            <a:ext cx="1699895" cy="301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 b="1">
                <a:latin typeface="Arial"/>
                <a:cs typeface="Arial"/>
              </a:rPr>
              <a:t>Link: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10">
                <a:latin typeface="Calibri"/>
                <a:cs typeface="Calibri"/>
                <a:hlinkClick r:id="rId2"/>
              </a:rPr>
              <a:t>https://youtu.be/1FxWuKNQEiM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5" name="object 5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3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12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9878"/>
            <a:ext cx="94932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latin typeface="Tahoma"/>
                <a:cs typeface="Tahoma"/>
              </a:rPr>
              <a:t>Quick</a:t>
            </a:r>
            <a:r>
              <a:rPr dirty="0" sz="1400" spc="-40">
                <a:latin typeface="Tahoma"/>
                <a:cs typeface="Tahoma"/>
              </a:rPr>
              <a:t> </a:t>
            </a:r>
            <a:r>
              <a:rPr dirty="0" sz="1400" spc="-20">
                <a:latin typeface="Tahoma"/>
                <a:cs typeface="Tahoma"/>
              </a:rPr>
              <a:t>Zoom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830" y="1445788"/>
            <a:ext cx="1699895" cy="301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 b="1">
                <a:latin typeface="Arial"/>
                <a:cs typeface="Arial"/>
              </a:rPr>
              <a:t>Link: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10">
                <a:latin typeface="Calibri"/>
                <a:cs typeface="Calibri"/>
                <a:hlinkClick r:id="rId2"/>
              </a:rPr>
              <a:t>https://youtu.be/n95WHZevxD8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5" name="object 5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3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12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9878"/>
            <a:ext cx="114744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latin typeface="Tahoma"/>
                <a:cs typeface="Tahoma"/>
              </a:rPr>
              <a:t>Rolling</a:t>
            </a:r>
            <a:r>
              <a:rPr dirty="0" sz="1400" spc="-70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Shutter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830" y="1445788"/>
            <a:ext cx="1699895" cy="301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 b="1">
                <a:latin typeface="Arial"/>
                <a:cs typeface="Arial"/>
              </a:rPr>
              <a:t>Link: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50">
                <a:latin typeface="Calibri"/>
                <a:cs typeface="Calibri"/>
                <a:hlinkClick r:id="rId2"/>
              </a:rPr>
              <a:t>https://youtu.be/QkzGF9ZRE0I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5" name="object 5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3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12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All</a:t>
            </a:r>
            <a:r>
              <a:rPr dirty="0" spc="114"/>
              <a:t> </a:t>
            </a:r>
            <a:r>
              <a:rPr dirty="0" spc="-50"/>
              <a:t>Comparisons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3830" y="1445788"/>
            <a:ext cx="4330065" cy="301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 b="1">
                <a:latin typeface="Arial"/>
                <a:cs typeface="Arial"/>
              </a:rPr>
              <a:t>Link: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40">
                <a:latin typeface="Calibri"/>
                <a:cs typeface="Calibri"/>
                <a:hlinkClick r:id="rId2"/>
              </a:rPr>
              <a:t>https://www.youtube.com/playlist?list=PL2gpCaN0OukK0CCQrF3CXxn65Ktbnit_8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5" name="object 5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3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12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28727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95"/>
              <a:t>Issues</a:t>
            </a:r>
            <a:r>
              <a:rPr dirty="0" spc="-15"/>
              <a:t> </a:t>
            </a:r>
            <a:r>
              <a:rPr dirty="0" spc="-50"/>
              <a:t>Addressed</a:t>
            </a:r>
            <a:r>
              <a:rPr dirty="0" spc="-60"/>
              <a:t> </a:t>
            </a:r>
            <a:r>
              <a:rPr dirty="0" spc="-30"/>
              <a:t>by</a:t>
            </a:r>
            <a:r>
              <a:rPr dirty="0" spc="-35"/>
              <a:t> </a:t>
            </a:r>
            <a:r>
              <a:rPr dirty="0" spc="-10"/>
              <a:t>BasicFlow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05" y="1085113"/>
            <a:ext cx="59601" cy="59601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25892" rIns="0" bIns="0" rtlCol="0" vert="horz">
            <a:spAutoFit/>
          </a:bodyPr>
          <a:lstStyle/>
          <a:p>
            <a:pPr marL="76200" marR="13716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Arial"/>
                <a:cs typeface="Arial"/>
              </a:rPr>
              <a:t>High</a:t>
            </a:r>
            <a:r>
              <a:rPr dirty="0" spc="45" b="1">
                <a:latin typeface="Arial"/>
                <a:cs typeface="Arial"/>
              </a:rPr>
              <a:t> </a:t>
            </a:r>
            <a:r>
              <a:rPr dirty="0" spc="-25" b="1">
                <a:latin typeface="Arial"/>
                <a:cs typeface="Arial"/>
              </a:rPr>
              <a:t>computational</a:t>
            </a:r>
            <a:r>
              <a:rPr dirty="0" spc="50" b="1">
                <a:latin typeface="Arial"/>
                <a:cs typeface="Arial"/>
              </a:rPr>
              <a:t> </a:t>
            </a:r>
            <a:r>
              <a:rPr dirty="0" spc="-25" b="1">
                <a:latin typeface="Arial"/>
                <a:cs typeface="Arial"/>
              </a:rPr>
              <a:t>cost</a:t>
            </a:r>
            <a:r>
              <a:rPr dirty="0" spc="5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in</a:t>
            </a:r>
            <a:r>
              <a:rPr dirty="0" spc="50" b="1">
                <a:latin typeface="Arial"/>
                <a:cs typeface="Arial"/>
              </a:rPr>
              <a:t> </a:t>
            </a:r>
            <a:r>
              <a:rPr dirty="0" spc="-30" b="1">
                <a:latin typeface="Arial"/>
                <a:cs typeface="Arial"/>
              </a:rPr>
              <a:t>SteadyFlow</a:t>
            </a:r>
            <a:r>
              <a:rPr dirty="0" spc="40" b="1">
                <a:latin typeface="Arial"/>
                <a:cs typeface="Arial"/>
              </a:rPr>
              <a:t> </a:t>
            </a:r>
            <a:r>
              <a:rPr dirty="0" spc="-35"/>
              <a:t>Replaces</a:t>
            </a:r>
            <a:r>
              <a:rPr dirty="0" spc="-20"/>
              <a:t> </a:t>
            </a:r>
            <a:r>
              <a:rPr dirty="0"/>
              <a:t>ASAP</a:t>
            </a:r>
            <a:r>
              <a:rPr dirty="0" spc="-10"/>
              <a:t> </a:t>
            </a:r>
            <a:r>
              <a:rPr dirty="0" spc="-40"/>
              <a:t>warping</a:t>
            </a:r>
            <a:r>
              <a:rPr dirty="0" spc="-20"/>
              <a:t> </a:t>
            </a:r>
            <a:r>
              <a:rPr dirty="0" spc="-50"/>
              <a:t>+ </a:t>
            </a:r>
            <a:r>
              <a:rPr dirty="0" spc="-20"/>
              <a:t>iterative</a:t>
            </a:r>
            <a:r>
              <a:rPr dirty="0" spc="-35"/>
              <a:t> </a:t>
            </a:r>
            <a:r>
              <a:rPr dirty="0" spc="-40"/>
              <a:t>refinement</a:t>
            </a:r>
            <a:r>
              <a:rPr dirty="0" spc="-30"/>
              <a:t> </a:t>
            </a:r>
            <a:r>
              <a:rPr dirty="0"/>
              <a:t>with</a:t>
            </a:r>
            <a:r>
              <a:rPr dirty="0" spc="-30"/>
              <a:t> simple</a:t>
            </a:r>
            <a:r>
              <a:rPr dirty="0" spc="-25"/>
              <a:t> diffusion</a:t>
            </a:r>
            <a:r>
              <a:rPr dirty="0" spc="-30"/>
              <a:t> </a:t>
            </a:r>
            <a:r>
              <a:rPr dirty="0" spc="-25"/>
              <a:t>and</a:t>
            </a:r>
            <a:r>
              <a:rPr dirty="0" spc="-30"/>
              <a:t> predicted smoothing </a:t>
            </a:r>
            <a:r>
              <a:rPr dirty="0" spc="-10"/>
              <a:t>(PAPS), </a:t>
            </a:r>
            <a:r>
              <a:rPr dirty="0" spc="-30"/>
              <a:t>making</a:t>
            </a:r>
            <a:r>
              <a:rPr dirty="0" spc="-50"/>
              <a:t> </a:t>
            </a:r>
            <a:r>
              <a:rPr dirty="0" spc="-10"/>
              <a:t>the</a:t>
            </a:r>
            <a:r>
              <a:rPr dirty="0" spc="-40"/>
              <a:t> </a:t>
            </a:r>
            <a:r>
              <a:rPr dirty="0" spc="-25"/>
              <a:t>pipeline</a:t>
            </a:r>
            <a:r>
              <a:rPr dirty="0" spc="-40"/>
              <a:t> </a:t>
            </a:r>
            <a:r>
              <a:rPr dirty="0" spc="-25"/>
              <a:t>much</a:t>
            </a:r>
            <a:r>
              <a:rPr dirty="0" spc="-45"/>
              <a:t> </a:t>
            </a:r>
            <a:r>
              <a:rPr dirty="0" spc="-10"/>
              <a:t>faster.</a:t>
            </a:r>
          </a:p>
          <a:p>
            <a:pPr marL="76200" marR="17780">
              <a:lnSpc>
                <a:spcPct val="100000"/>
              </a:lnSpc>
              <a:spcBef>
                <a:spcPts val="785"/>
              </a:spcBef>
            </a:pPr>
            <a:r>
              <a:rPr dirty="0" spc="-30" b="1">
                <a:latin typeface="Arial"/>
                <a:cs typeface="Arial"/>
              </a:rPr>
              <a:t>Brittleness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of</a:t>
            </a:r>
            <a:r>
              <a:rPr dirty="0" spc="1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feature</a:t>
            </a:r>
            <a:r>
              <a:rPr dirty="0" spc="15" b="1">
                <a:latin typeface="Arial"/>
                <a:cs typeface="Arial"/>
              </a:rPr>
              <a:t> </a:t>
            </a:r>
            <a:r>
              <a:rPr dirty="0" spc="-25" b="1">
                <a:latin typeface="Arial"/>
                <a:cs typeface="Arial"/>
              </a:rPr>
              <a:t>tracking</a:t>
            </a:r>
            <a:r>
              <a:rPr dirty="0" spc="1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in</a:t>
            </a:r>
            <a:r>
              <a:rPr dirty="0" spc="15" b="1">
                <a:latin typeface="Arial"/>
                <a:cs typeface="Arial"/>
              </a:rPr>
              <a:t> </a:t>
            </a:r>
            <a:r>
              <a:rPr dirty="0" spc="-30" b="1">
                <a:latin typeface="Arial"/>
                <a:cs typeface="Arial"/>
              </a:rPr>
              <a:t>MeshFlow</a:t>
            </a:r>
            <a:r>
              <a:rPr dirty="0" b="1">
                <a:latin typeface="Arial"/>
                <a:cs typeface="Arial"/>
              </a:rPr>
              <a:t> </a:t>
            </a:r>
            <a:r>
              <a:rPr dirty="0" spc="-50"/>
              <a:t>Uses</a:t>
            </a:r>
            <a:r>
              <a:rPr dirty="0" spc="-30"/>
              <a:t> </a:t>
            </a:r>
            <a:r>
              <a:rPr dirty="0" spc="-75"/>
              <a:t>dense</a:t>
            </a:r>
            <a:r>
              <a:rPr dirty="0" spc="-20"/>
              <a:t> </a:t>
            </a:r>
            <a:r>
              <a:rPr dirty="0" spc="50"/>
              <a:t>RAFT</a:t>
            </a:r>
            <a:r>
              <a:rPr dirty="0" spc="-45"/>
              <a:t> </a:t>
            </a:r>
            <a:r>
              <a:rPr dirty="0" spc="-10"/>
              <a:t>optical</a:t>
            </a:r>
            <a:r>
              <a:rPr dirty="0" spc="-50"/>
              <a:t> </a:t>
            </a:r>
            <a:r>
              <a:rPr dirty="0" spc="-20"/>
              <a:t>flow </a:t>
            </a:r>
            <a:r>
              <a:rPr dirty="0" spc="-30"/>
              <a:t>instead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60"/>
              <a:t>sparse</a:t>
            </a:r>
            <a:r>
              <a:rPr dirty="0" spc="-15"/>
              <a:t> </a:t>
            </a:r>
            <a:r>
              <a:rPr dirty="0" spc="-40"/>
              <a:t>features,</a:t>
            </a:r>
            <a:r>
              <a:rPr dirty="0" spc="-20"/>
              <a:t> </a:t>
            </a:r>
            <a:r>
              <a:rPr dirty="0" spc="-25"/>
              <a:t>avoiding</a:t>
            </a:r>
            <a:r>
              <a:rPr dirty="0" spc="-15"/>
              <a:t> </a:t>
            </a:r>
            <a:r>
              <a:rPr dirty="0" spc="-30"/>
              <a:t>failures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 spc="-45"/>
              <a:t>low-</a:t>
            </a:r>
            <a:r>
              <a:rPr dirty="0" spc="-30"/>
              <a:t>texture</a:t>
            </a:r>
            <a:r>
              <a:rPr dirty="0" spc="-25"/>
              <a:t> </a:t>
            </a:r>
            <a:r>
              <a:rPr dirty="0" spc="-10"/>
              <a:t>or</a:t>
            </a:r>
            <a:r>
              <a:rPr dirty="0" spc="-15"/>
              <a:t> </a:t>
            </a:r>
            <a:r>
              <a:rPr dirty="0" spc="-55"/>
              <a:t>uneven</a:t>
            </a:r>
            <a:r>
              <a:rPr dirty="0" spc="-15"/>
              <a:t> </a:t>
            </a:r>
            <a:r>
              <a:rPr dirty="0" spc="-10"/>
              <a:t>regions.</a:t>
            </a:r>
          </a:p>
          <a:p>
            <a:pPr marL="76200" marR="89535">
              <a:lnSpc>
                <a:spcPct val="100000"/>
              </a:lnSpc>
              <a:spcBef>
                <a:spcPts val="785"/>
              </a:spcBef>
            </a:pPr>
            <a:r>
              <a:rPr dirty="0" spc="-20" b="1">
                <a:latin typeface="Arial"/>
                <a:cs typeface="Arial"/>
              </a:rPr>
              <a:t>Latency</a:t>
            </a:r>
            <a:r>
              <a:rPr dirty="0" spc="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from</a:t>
            </a:r>
            <a:r>
              <a:rPr dirty="0" spc="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iterative</a:t>
            </a:r>
            <a:r>
              <a:rPr dirty="0" spc="20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parameter</a:t>
            </a:r>
            <a:r>
              <a:rPr dirty="0" spc="25" b="1">
                <a:latin typeface="Arial"/>
                <a:cs typeface="Arial"/>
              </a:rPr>
              <a:t> </a:t>
            </a:r>
            <a:r>
              <a:rPr dirty="0" spc="-65" b="1">
                <a:latin typeface="Arial"/>
                <a:cs typeface="Arial"/>
              </a:rPr>
              <a:t>search</a:t>
            </a:r>
            <a:r>
              <a:rPr dirty="0" spc="-5" b="1">
                <a:latin typeface="Arial"/>
                <a:cs typeface="Arial"/>
              </a:rPr>
              <a:t> </a:t>
            </a:r>
            <a:r>
              <a:rPr dirty="0" spc="-45"/>
              <a:t>Removes</a:t>
            </a:r>
            <a:r>
              <a:rPr dirty="0" spc="-35"/>
              <a:t> </a:t>
            </a:r>
            <a:r>
              <a:rPr dirty="0" spc="-25"/>
              <a:t>SteadyFlow’s</a:t>
            </a:r>
            <a:r>
              <a:rPr dirty="0" spc="-40"/>
              <a:t> </a:t>
            </a:r>
            <a:r>
              <a:rPr dirty="0" spc="-10"/>
              <a:t>iterative </a:t>
            </a:r>
            <a:r>
              <a:rPr dirty="0" spc="-55"/>
              <a:t>search</a:t>
            </a:r>
            <a:r>
              <a:rPr dirty="0" spc="-5"/>
              <a:t> </a:t>
            </a:r>
            <a:r>
              <a:rPr dirty="0" spc="-10"/>
              <a:t>for</a:t>
            </a:r>
            <a:r>
              <a:rPr dirty="0" spc="5"/>
              <a:t> </a:t>
            </a:r>
            <a:r>
              <a:rPr dirty="0" i="1">
                <a:latin typeface="Calibri"/>
                <a:cs typeface="Calibri"/>
              </a:rPr>
              <a:t>λ</a:t>
            </a:r>
            <a:r>
              <a:rPr dirty="0" baseline="-11904" sz="1050" i="1">
                <a:latin typeface="Trebuchet MS"/>
                <a:cs typeface="Trebuchet MS"/>
              </a:rPr>
              <a:t>t</a:t>
            </a:r>
            <a:r>
              <a:rPr dirty="0" baseline="-11904" sz="1050" spc="-172" i="1">
                <a:latin typeface="Trebuchet MS"/>
                <a:cs typeface="Trebuchet MS"/>
              </a:rPr>
              <a:t> </a:t>
            </a:r>
            <a:r>
              <a:rPr dirty="0" sz="1000"/>
              <a:t>; </a:t>
            </a:r>
            <a:r>
              <a:rPr dirty="0" sz="1000" spc="-10"/>
              <a:t>BasicFlow</a:t>
            </a:r>
            <a:r>
              <a:rPr dirty="0" sz="1000"/>
              <a:t> </a:t>
            </a:r>
            <a:r>
              <a:rPr dirty="0" sz="1000" spc="-30"/>
              <a:t>predicts</a:t>
            </a:r>
            <a:r>
              <a:rPr dirty="0" sz="1000"/>
              <a:t> it </a:t>
            </a:r>
            <a:r>
              <a:rPr dirty="0" sz="1000" spc="-20"/>
              <a:t>instantly</a:t>
            </a:r>
            <a:r>
              <a:rPr dirty="0" sz="1000"/>
              <a:t> </a:t>
            </a:r>
            <a:r>
              <a:rPr dirty="0" sz="1000" spc="-30"/>
              <a:t>through</a:t>
            </a:r>
            <a:r>
              <a:rPr dirty="0" sz="1000"/>
              <a:t> </a:t>
            </a:r>
            <a:r>
              <a:rPr dirty="0" sz="1000" spc="-20"/>
              <a:t>MeshFlow’s</a:t>
            </a:r>
            <a:r>
              <a:rPr dirty="0" sz="1000"/>
              <a:t> </a:t>
            </a:r>
            <a:r>
              <a:rPr dirty="0" sz="1000" spc="-20"/>
              <a:t>PAPS </a:t>
            </a:r>
            <a:r>
              <a:rPr dirty="0" sz="1000" spc="-10"/>
              <a:t>model.</a:t>
            </a:r>
            <a:endParaRPr sz="1000">
              <a:latin typeface="Trebuchet MS"/>
              <a:cs typeface="Trebuchet MS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05" y="1641818"/>
            <a:ext cx="59601" cy="596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05" y="2046706"/>
            <a:ext cx="59601" cy="59601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8" name="object 8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5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12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2480" y="1145894"/>
            <a:ext cx="1483360" cy="60452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ts val="2890"/>
              </a:lnSpc>
              <a:spcBef>
                <a:spcPts val="125"/>
              </a:spcBef>
            </a:pPr>
            <a:r>
              <a:rPr dirty="0" sz="2450" spc="-70"/>
              <a:t>Thank</a:t>
            </a:r>
            <a:r>
              <a:rPr dirty="0" sz="2450" spc="-110"/>
              <a:t> </a:t>
            </a:r>
            <a:r>
              <a:rPr dirty="0" sz="2450" spc="-70"/>
              <a:t>You!</a:t>
            </a:r>
            <a:endParaRPr sz="2450"/>
          </a:p>
          <a:p>
            <a:pPr algn="ctr">
              <a:lnSpc>
                <a:spcPts val="1630"/>
              </a:lnSpc>
            </a:pPr>
            <a:r>
              <a:rPr dirty="0" spc="-10"/>
              <a:t>Questions?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3364623"/>
            <a:ext cx="4608195" cy="91440"/>
            <a:chOff x="0" y="3364623"/>
            <a:chExt cx="4608195" cy="91440"/>
          </a:xfrm>
        </p:grpSpPr>
        <p:sp>
          <p:nvSpPr>
            <p:cNvPr id="4" name="object 4" descr=""/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/>
              <a:t>Arnav</a:t>
            </a:r>
            <a:r>
              <a:rPr dirty="0" spc="30"/>
              <a:t> </a:t>
            </a:r>
            <a:r>
              <a:rPr dirty="0"/>
              <a:t>Sharma,</a:t>
            </a:r>
            <a:r>
              <a:rPr dirty="0" spc="30"/>
              <a:t> </a:t>
            </a:r>
            <a:r>
              <a:rPr dirty="0"/>
              <a:t>Harshith</a:t>
            </a:r>
            <a:r>
              <a:rPr dirty="0" spc="30"/>
              <a:t> </a:t>
            </a:r>
            <a:r>
              <a:rPr dirty="0" spc="-10"/>
              <a:t>Seera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2150808" y="3367039"/>
            <a:ext cx="306705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10">
                <a:latin typeface="Tahoma"/>
                <a:cs typeface="Tahoma"/>
                <a:hlinkClick r:id="rId2" action="ppaction://hlinksldjump"/>
              </a:rPr>
              <a:t>BasicFlow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dirty="0" spc="-20"/>
              <a:t>12</a:t>
            </a:fld>
            <a:r>
              <a:rPr dirty="0" spc="-65"/>
              <a:t> </a:t>
            </a:r>
            <a:r>
              <a:rPr dirty="0" spc="75"/>
              <a:t>/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Arnav Sharma (2023111033), Harshith Seera (2023101064)  CS7.404 Digital Image Processing</dc:creator>
  <dc:title>BasicFlow: Lightweight SteadyFlow-Based Video Stabilization</dc:title>
  <dcterms:created xsi:type="dcterms:W3CDTF">2025-12-02T17:01:06Z</dcterms:created>
  <dcterms:modified xsi:type="dcterms:W3CDTF">2025-12-02T17:01:06Z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2025-12-02T00:00:00Z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